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3" r:id="rId14"/>
    <p:sldId id="256" r:id="rId2"/>
    <p:sldId id="262" r:id="rId13"/>
    <p:sldId id="257" r:id="rId3"/>
    <p:sldId id="258" r:id="rId4"/>
    <p:sldId id="259" r:id="rId5"/>
    <p:sldId id="260" r:id="rId6"/>
    <p:sldId id="264" r:id="rId15"/>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4.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9.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1.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INFRA-AI: a multilingual, location-first infrastructure intelligence platform built as a Digital Public Good. Screenshot is the running app, not a mockup. Stats: 1,42,905 km NH mapped from OSM (97.8% of official length); 381 cities scored; 22 scheduled languages targeted via Bhashini / AI4Bharat.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requests are fragmented across systems and languages; spending drifts from need; impact of large programmes is not measured. Right panel is real analysis: 99,931 of 1,36,758 km NHAI length is &lt;=2 lanes; 264 of 388 NHAI projects under construction are overdue; NH deaths 50,251 (2020) to 64,772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Location-first is the angle: every dataset keyed to an H3 hexagon and a time. Analytics are config-weighted sums with stored drivers (ADR-0003) — no predictive model. LLMs only read and structure text; briefs cite fact ids (ADR-0008). Growth outlook is informational, never investment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NH Explorer with real OSM network plus NHAI toll plazas. Top right: Policymaker View with state-wise length, OSM coverage, deaths per 100 km, tolls and traffic counts, CSV export. Bottom right: investor flow landing page — cities ranked, every score shows its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across data, technology, legal/privacy and delivery. Honest risks: NHAI GeoServer data has no stated licence (ADR-0014); OSM lags official openings. Invariants: provenance on everything, fail closed, AI never originates facts, explainable analytics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follow README section 13 and AGENTS.md status: NH M1/M2 done, M3 half done; investor flow landed ahead of M0; M0 is next. Asks are taken from the plan: GatiShakti access is listed as restricted and needs organizer help; Bhashini for the language stack; a pilot partner for real citizen intake.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BRICS is a proposal, not implemented. Why it can travel: the core is city/field-agnostic (AGENTS.md invariant 8), uses global open data, and the UI language picker already has a BRICS / international group (pt, ru, zh). Should-do list comes from the invariants: ADR before changing scope (ADR-0013), licences before data (ADR-0012), official boundaries per country (ADR-0007 is Survey of India for India), privacy law per country (ADR-0011 is DPDP-aligned), gold-set evaluation for languages (ADR-0008/0009).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2C34"/>
        </a:solidFill>
        <a:effectLst/>
      </p:bgPr>
    </p:bg>
    <p:spTree>
      <p:nvGrpSpPr>
        <p:cNvPr id="1" name=""/>
        <p:cNvGrpSpPr/>
        <p:nvPr/>
      </p:nvGrpSpPr>
      <p:grpSpPr/>
      <p:sp>
        <p:nvSpPr>
          <p:cNvPr id="2" name="TextBox 1"/>
          <p:cNvSpPr txBox="1"/>
          <p:nvPr/>
        </p:nvSpPr>
        <p:spPr>
          <a:xfrm>
            <a:off x="548640" y="640080"/>
            <a:ext cx="5120640" cy="320040"/>
          </a:xfrm>
          <a:prstGeom prst="rect">
            <a:avLst/>
          </a:prstGeom>
          <a:noFill/>
        </p:spPr>
        <p:txBody>
          <a:bodyPr wrap="square" anchor="t" lIns="0" rIns="0" tIns="0" bIns="0">
            <a:spAutoFit/>
          </a:bodyPr>
          <a:lstStyle/>
          <a:p>
            <a:r>
              <a:rPr sz="1200" b="1" spc="100">
                <a:solidFill>
                  <a:srgbClr val="E08A1E"/>
                </a:solidFill>
                <a:latin typeface="Calibri"/>
              </a:rPr>
              <a:t>BUILD WITH AI: CODE FOR COMMUNITIES  ·  SECOND EDITION</a:t>
            </a:r>
          </a:p>
        </p:txBody>
      </p:sp>
      <p:sp>
        <p:nvSpPr>
          <p:cNvPr id="3" name="TextBox 2"/>
          <p:cNvSpPr txBox="1"/>
          <p:nvPr/>
        </p:nvSpPr>
        <p:spPr>
          <a:xfrm>
            <a:off x="548640" y="1188720"/>
            <a:ext cx="5120640" cy="1097280"/>
          </a:xfrm>
          <a:prstGeom prst="rect">
            <a:avLst/>
          </a:prstGeom>
          <a:noFill/>
        </p:spPr>
        <p:txBody>
          <a:bodyPr wrap="square" anchor="t" lIns="0" rIns="0" tIns="0" bIns="0">
            <a:spAutoFit/>
          </a:bodyPr>
          <a:lstStyle/>
          <a:p>
            <a:r>
              <a:rPr sz="4800" b="1">
                <a:solidFill>
                  <a:srgbClr val="FFFFFF"/>
                </a:solidFill>
                <a:latin typeface="Cambria"/>
              </a:rPr>
              <a:t>Team Predators</a:t>
            </a:r>
          </a:p>
        </p:txBody>
      </p:sp>
      <p:sp>
        <p:nvSpPr>
          <p:cNvPr id="4" name="TextBox 3"/>
          <p:cNvSpPr txBox="1"/>
          <p:nvPr/>
        </p:nvSpPr>
        <p:spPr>
          <a:xfrm>
            <a:off x="548640" y="2514600"/>
            <a:ext cx="5120640" cy="1280160"/>
          </a:xfrm>
          <a:prstGeom prst="rect">
            <a:avLst/>
          </a:prstGeom>
          <a:noFill/>
        </p:spPr>
        <p:txBody>
          <a:bodyPr wrap="square" anchor="t" lIns="0" rIns="0" tIns="0" bIns="0">
            <a:spAutoFit/>
          </a:bodyPr>
          <a:lstStyle/>
          <a:p>
            <a:r>
              <a:rPr sz="2000" b="0">
                <a:solidFill>
                  <a:srgbClr val="CFE3E6"/>
                </a:solidFill>
                <a:latin typeface="Calibri"/>
              </a:rPr>
              <a:t>Problem statement 01: AI for Digital Public Infrastructure &amp; Governance</a:t>
            </a:r>
          </a:p>
        </p:txBody>
      </p:sp>
      <p:sp>
        <p:nvSpPr>
          <p:cNvPr id="5" name="TextBox 4"/>
          <p:cNvSpPr txBox="1"/>
          <p:nvPr/>
        </p:nvSpPr>
        <p:spPr>
          <a:xfrm>
            <a:off x="548640" y="4206240"/>
            <a:ext cx="5120640" cy="457200"/>
          </a:xfrm>
          <a:prstGeom prst="rect">
            <a:avLst/>
          </a:prstGeom>
          <a:noFill/>
        </p:spPr>
        <p:txBody>
          <a:bodyPr wrap="square" anchor="t" lIns="0" rIns="0" tIns="0" bIns="0">
            <a:spAutoFit/>
          </a:bodyPr>
          <a:lstStyle/>
          <a:p>
            <a:r>
              <a:rPr sz="1800" b="1">
                <a:solidFill>
                  <a:srgbClr val="FFFFFF"/>
                </a:solidFill>
                <a:latin typeface="Cambria"/>
              </a:rPr>
              <a:t>Our solution: INFRA-AI</a:t>
            </a:r>
          </a:p>
        </p:txBody>
      </p:sp>
      <p:sp>
        <p:nvSpPr>
          <p:cNvPr id="6" name="TextBox 5"/>
          <p:cNvSpPr txBox="1"/>
          <p:nvPr/>
        </p:nvSpPr>
        <p:spPr>
          <a:xfrm>
            <a:off x="548640" y="4617720"/>
            <a:ext cx="5120640" cy="731520"/>
          </a:xfrm>
          <a:prstGeom prst="rect">
            <a:avLst/>
          </a:prstGeom>
          <a:noFill/>
        </p:spPr>
        <p:txBody>
          <a:bodyPr wrap="square" anchor="t" lIns="0" rIns="0" tIns="0" bIns="0">
            <a:spAutoFit/>
          </a:bodyPr>
          <a:lstStyle/>
          <a:p>
            <a:r>
              <a:rPr sz="1400" b="0">
                <a:solidFill>
                  <a:srgbClr val="CFE3E6"/>
                </a:solidFill>
                <a:latin typeface="Calibri"/>
              </a:rPr>
              <a:t>A multilingual, location-first infrastructure intelligence platform for India, built as a Digital Public Good.</a:t>
            </a:r>
          </a:p>
        </p:txBody>
      </p:sp>
      <p:sp>
        <p:nvSpPr>
          <p:cNvPr id="7" name="Rounded Rectangle 6"/>
          <p:cNvSpPr/>
          <p:nvPr/>
        </p:nvSpPr>
        <p:spPr>
          <a:xfrm>
            <a:off x="6062472" y="1554480"/>
            <a:ext cx="2697480" cy="2103120"/>
          </a:xfrm>
          <a:prstGeom prst="roundRect">
            <a:avLst>
              <a:gd name="adj" fmla="val 5000"/>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91072" y="1783080"/>
            <a:ext cx="640080" cy="6400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1072" y="1783080"/>
            <a:ext cx="640080" cy="640080"/>
          </a:xfrm>
          <a:prstGeom prst="rect">
            <a:avLst/>
          </a:prstGeom>
          <a:noFill/>
        </p:spPr>
        <p:txBody>
          <a:bodyPr wrap="square" anchor="ctr" lIns="0" rIns="0" tIns="0" bIns="0">
            <a:spAutoFit/>
          </a:bodyPr>
          <a:lstStyle/>
          <a:p>
            <a:pPr algn="ctr"/>
            <a:r>
              <a:rPr sz="1600" b="1">
                <a:solidFill>
                  <a:srgbClr val="072C34"/>
                </a:solidFill>
                <a:latin typeface="Calibri"/>
              </a:rPr>
              <a:t>PS</a:t>
            </a:r>
          </a:p>
        </p:txBody>
      </p:sp>
      <p:sp>
        <p:nvSpPr>
          <p:cNvPr id="10" name="TextBox 9"/>
          <p:cNvSpPr txBox="1"/>
          <p:nvPr/>
        </p:nvSpPr>
        <p:spPr>
          <a:xfrm>
            <a:off x="6291072" y="2606039"/>
            <a:ext cx="2331720" cy="320040"/>
          </a:xfrm>
          <a:prstGeom prst="rect">
            <a:avLst/>
          </a:prstGeom>
          <a:noFill/>
        </p:spPr>
        <p:txBody>
          <a:bodyPr wrap="square" anchor="t" lIns="0" rIns="0" tIns="0" bIns="0">
            <a:spAutoFit/>
          </a:bodyPr>
          <a:lstStyle/>
          <a:p>
            <a:r>
              <a:rPr sz="1700" b="1">
                <a:solidFill>
                  <a:srgbClr val="FFFFFF"/>
                </a:solidFill>
                <a:latin typeface="Calibri"/>
              </a:rPr>
              <a:t>Punya Surana</a:t>
            </a:r>
          </a:p>
        </p:txBody>
      </p:sp>
      <p:sp>
        <p:nvSpPr>
          <p:cNvPr id="11" name="TextBox 10"/>
          <p:cNvSpPr txBox="1"/>
          <p:nvPr/>
        </p:nvSpPr>
        <p:spPr>
          <a:xfrm>
            <a:off x="6291072" y="2944368"/>
            <a:ext cx="2331720" cy="274320"/>
          </a:xfrm>
          <a:prstGeom prst="rect">
            <a:avLst/>
          </a:prstGeom>
          <a:noFill/>
        </p:spPr>
        <p:txBody>
          <a:bodyPr wrap="square" anchor="t" lIns="0" rIns="0" tIns="0" bIns="0">
            <a:spAutoFit/>
          </a:bodyPr>
          <a:lstStyle/>
          <a:p>
            <a:r>
              <a:rPr sz="1100" b="1">
                <a:solidFill>
                  <a:srgbClr val="E08A1E"/>
                </a:solidFill>
                <a:latin typeface="Calibri"/>
              </a:rPr>
              <a:t>Team Leader</a:t>
            </a:r>
          </a:p>
        </p:txBody>
      </p:sp>
      <p:sp>
        <p:nvSpPr>
          <p:cNvPr id="12" name="TextBox 11"/>
          <p:cNvSpPr txBox="1"/>
          <p:nvPr/>
        </p:nvSpPr>
        <p:spPr>
          <a:xfrm>
            <a:off x="6291072" y="3246120"/>
            <a:ext cx="2331720" cy="274320"/>
          </a:xfrm>
          <a:prstGeom prst="rect">
            <a:avLst/>
          </a:prstGeom>
          <a:noFill/>
        </p:spPr>
        <p:txBody>
          <a:bodyPr wrap="square" anchor="t" lIns="0" rIns="0" tIns="0" bIns="0">
            <a:spAutoFit/>
          </a:bodyPr>
          <a:lstStyle/>
          <a:p>
            <a:r>
              <a:rPr sz="1100" b="0">
                <a:solidFill>
                  <a:srgbClr val="CFE3E6"/>
                </a:solidFill>
                <a:latin typeface="Calibri"/>
              </a:rPr>
              <a:t>punyasurana23@gmail.com</a:t>
            </a:r>
          </a:p>
        </p:txBody>
      </p:sp>
      <p:sp>
        <p:nvSpPr>
          <p:cNvPr id="13" name="Rounded Rectangle 12"/>
          <p:cNvSpPr/>
          <p:nvPr/>
        </p:nvSpPr>
        <p:spPr>
          <a:xfrm>
            <a:off x="8942832" y="1554480"/>
            <a:ext cx="2697480" cy="2103120"/>
          </a:xfrm>
          <a:prstGeom prst="roundRect">
            <a:avLst>
              <a:gd name="adj" fmla="val 5000"/>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71432" y="1783080"/>
            <a:ext cx="640080" cy="640080"/>
          </a:xfrm>
          <a:prstGeom prst="ellipse">
            <a:avLst/>
          </a:prstGeom>
          <a:solidFill>
            <a:srgbClr val="07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71432" y="1783080"/>
            <a:ext cx="640080" cy="640080"/>
          </a:xfrm>
          <a:prstGeom prst="rect">
            <a:avLst/>
          </a:prstGeom>
          <a:noFill/>
        </p:spPr>
        <p:txBody>
          <a:bodyPr wrap="square" anchor="ctr" lIns="0" rIns="0" tIns="0" bIns="0">
            <a:spAutoFit/>
          </a:bodyPr>
          <a:lstStyle/>
          <a:p>
            <a:pPr algn="ctr"/>
            <a:r>
              <a:rPr sz="1600" b="1">
                <a:solidFill>
                  <a:srgbClr val="FFFFFF"/>
                </a:solidFill>
                <a:latin typeface="Calibri"/>
              </a:rPr>
              <a:t>SP</a:t>
            </a:r>
          </a:p>
        </p:txBody>
      </p:sp>
      <p:sp>
        <p:nvSpPr>
          <p:cNvPr id="16" name="TextBox 15"/>
          <p:cNvSpPr txBox="1"/>
          <p:nvPr/>
        </p:nvSpPr>
        <p:spPr>
          <a:xfrm>
            <a:off x="9171432" y="2606039"/>
            <a:ext cx="2331720" cy="320040"/>
          </a:xfrm>
          <a:prstGeom prst="rect">
            <a:avLst/>
          </a:prstGeom>
          <a:noFill/>
        </p:spPr>
        <p:txBody>
          <a:bodyPr wrap="square" anchor="t" lIns="0" rIns="0" tIns="0" bIns="0">
            <a:spAutoFit/>
          </a:bodyPr>
          <a:lstStyle/>
          <a:p>
            <a:r>
              <a:rPr sz="1700" b="1">
                <a:solidFill>
                  <a:srgbClr val="FFFFFF"/>
                </a:solidFill>
                <a:latin typeface="Calibri"/>
              </a:rPr>
              <a:t>Shreyam Pandey</a:t>
            </a:r>
          </a:p>
        </p:txBody>
      </p:sp>
      <p:sp>
        <p:nvSpPr>
          <p:cNvPr id="17" name="TextBox 16"/>
          <p:cNvSpPr txBox="1"/>
          <p:nvPr/>
        </p:nvSpPr>
        <p:spPr>
          <a:xfrm>
            <a:off x="9171432" y="2944368"/>
            <a:ext cx="2331720" cy="274320"/>
          </a:xfrm>
          <a:prstGeom prst="rect">
            <a:avLst/>
          </a:prstGeom>
          <a:noFill/>
        </p:spPr>
        <p:txBody>
          <a:bodyPr wrap="square" anchor="t" lIns="0" rIns="0" tIns="0" bIns="0">
            <a:spAutoFit/>
          </a:bodyPr>
          <a:lstStyle/>
          <a:p>
            <a:r>
              <a:rPr sz="1100" b="0">
                <a:solidFill>
                  <a:srgbClr val="CFE3E6"/>
                </a:solidFill>
                <a:latin typeface="Calibri"/>
              </a:rPr>
              <a:t>Team Member</a:t>
            </a:r>
          </a:p>
        </p:txBody>
      </p:sp>
      <p:sp>
        <p:nvSpPr>
          <p:cNvPr id="18" name="TextBox 17"/>
          <p:cNvSpPr txBox="1"/>
          <p:nvPr/>
        </p:nvSpPr>
        <p:spPr>
          <a:xfrm>
            <a:off x="9171432" y="3246120"/>
            <a:ext cx="2331720" cy="274320"/>
          </a:xfrm>
          <a:prstGeom prst="rect">
            <a:avLst/>
          </a:prstGeom>
          <a:noFill/>
        </p:spPr>
        <p:txBody>
          <a:bodyPr wrap="square" anchor="t" lIns="0" rIns="0" tIns="0" bIns="0">
            <a:spAutoFit/>
          </a:bodyPr>
          <a:lstStyle/>
          <a:p>
            <a:r>
              <a:rPr sz="1100" b="0">
                <a:solidFill>
                  <a:srgbClr val="CFE3E6"/>
                </a:solidFill>
                <a:latin typeface="Calibri"/>
              </a:rPr>
              <a:t>p.shreyambbk@gmail.com</a:t>
            </a:r>
          </a:p>
        </p:txBody>
      </p:sp>
      <p:sp>
        <p:nvSpPr>
          <p:cNvPr id="19" name="Rounded Rectangle 18"/>
          <p:cNvSpPr/>
          <p:nvPr/>
        </p:nvSpPr>
        <p:spPr>
          <a:xfrm>
            <a:off x="6062472" y="3840480"/>
            <a:ext cx="2697480" cy="2103120"/>
          </a:xfrm>
          <a:prstGeom prst="roundRect">
            <a:avLst>
              <a:gd name="adj" fmla="val 5000"/>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291072" y="4069080"/>
            <a:ext cx="640080" cy="640080"/>
          </a:xfrm>
          <a:prstGeom prst="ellipse">
            <a:avLst/>
          </a:prstGeom>
          <a:solidFill>
            <a:srgbClr val="07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4069080"/>
            <a:ext cx="640080" cy="640080"/>
          </a:xfrm>
          <a:prstGeom prst="rect">
            <a:avLst/>
          </a:prstGeom>
          <a:noFill/>
        </p:spPr>
        <p:txBody>
          <a:bodyPr wrap="square" anchor="ctr" lIns="0" rIns="0" tIns="0" bIns="0">
            <a:spAutoFit/>
          </a:bodyPr>
          <a:lstStyle/>
          <a:p>
            <a:pPr algn="ctr"/>
            <a:r>
              <a:rPr sz="1600" b="1">
                <a:solidFill>
                  <a:srgbClr val="FFFFFF"/>
                </a:solidFill>
                <a:latin typeface="Calibri"/>
              </a:rPr>
              <a:t>SV</a:t>
            </a:r>
          </a:p>
        </p:txBody>
      </p:sp>
      <p:sp>
        <p:nvSpPr>
          <p:cNvPr id="22" name="TextBox 21"/>
          <p:cNvSpPr txBox="1"/>
          <p:nvPr/>
        </p:nvSpPr>
        <p:spPr>
          <a:xfrm>
            <a:off x="6291072" y="4892040"/>
            <a:ext cx="2331720" cy="320040"/>
          </a:xfrm>
          <a:prstGeom prst="rect">
            <a:avLst/>
          </a:prstGeom>
          <a:noFill/>
        </p:spPr>
        <p:txBody>
          <a:bodyPr wrap="square" anchor="t" lIns="0" rIns="0" tIns="0" bIns="0">
            <a:spAutoFit/>
          </a:bodyPr>
          <a:lstStyle/>
          <a:p>
            <a:r>
              <a:rPr sz="1700" b="1">
                <a:solidFill>
                  <a:srgbClr val="FFFFFF"/>
                </a:solidFill>
                <a:latin typeface="Calibri"/>
              </a:rPr>
              <a:t>Shubham Veer</a:t>
            </a:r>
          </a:p>
        </p:txBody>
      </p:sp>
      <p:sp>
        <p:nvSpPr>
          <p:cNvPr id="23" name="TextBox 22"/>
          <p:cNvSpPr txBox="1"/>
          <p:nvPr/>
        </p:nvSpPr>
        <p:spPr>
          <a:xfrm>
            <a:off x="6291072" y="5230368"/>
            <a:ext cx="2331720" cy="274320"/>
          </a:xfrm>
          <a:prstGeom prst="rect">
            <a:avLst/>
          </a:prstGeom>
          <a:noFill/>
        </p:spPr>
        <p:txBody>
          <a:bodyPr wrap="square" anchor="t" lIns="0" rIns="0" tIns="0" bIns="0">
            <a:spAutoFit/>
          </a:bodyPr>
          <a:lstStyle/>
          <a:p>
            <a:r>
              <a:rPr sz="1100" b="0">
                <a:solidFill>
                  <a:srgbClr val="CFE3E6"/>
                </a:solidFill>
                <a:latin typeface="Calibri"/>
              </a:rPr>
              <a:t>Team Member</a:t>
            </a:r>
          </a:p>
        </p:txBody>
      </p:sp>
      <p:sp>
        <p:nvSpPr>
          <p:cNvPr id="24" name="TextBox 23"/>
          <p:cNvSpPr txBox="1"/>
          <p:nvPr/>
        </p:nvSpPr>
        <p:spPr>
          <a:xfrm>
            <a:off x="6291072" y="5532120"/>
            <a:ext cx="2331720" cy="274320"/>
          </a:xfrm>
          <a:prstGeom prst="rect">
            <a:avLst/>
          </a:prstGeom>
          <a:noFill/>
        </p:spPr>
        <p:txBody>
          <a:bodyPr wrap="square" anchor="t" lIns="0" rIns="0" tIns="0" bIns="0">
            <a:spAutoFit/>
          </a:bodyPr>
          <a:lstStyle/>
          <a:p>
            <a:r>
              <a:rPr sz="1100" b="0">
                <a:solidFill>
                  <a:srgbClr val="CFE3E6"/>
                </a:solidFill>
                <a:latin typeface="Calibri"/>
              </a:rPr>
              <a:t>shubham.veer24@pcu.edu.in</a:t>
            </a:r>
          </a:p>
        </p:txBody>
      </p:sp>
      <p:sp>
        <p:nvSpPr>
          <p:cNvPr id="25" name="Rounded Rectangle 24"/>
          <p:cNvSpPr/>
          <p:nvPr/>
        </p:nvSpPr>
        <p:spPr>
          <a:xfrm>
            <a:off x="8942832" y="3840480"/>
            <a:ext cx="2697480" cy="2103120"/>
          </a:xfrm>
          <a:prstGeom prst="roundRect">
            <a:avLst>
              <a:gd name="adj" fmla="val 5000"/>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71432" y="4069080"/>
            <a:ext cx="640080" cy="640080"/>
          </a:xfrm>
          <a:prstGeom prst="ellipse">
            <a:avLst/>
          </a:prstGeom>
          <a:solidFill>
            <a:srgbClr val="07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71432" y="4069080"/>
            <a:ext cx="640080" cy="640080"/>
          </a:xfrm>
          <a:prstGeom prst="rect">
            <a:avLst/>
          </a:prstGeom>
          <a:noFill/>
        </p:spPr>
        <p:txBody>
          <a:bodyPr wrap="square" anchor="ctr" lIns="0" rIns="0" tIns="0" bIns="0">
            <a:spAutoFit/>
          </a:bodyPr>
          <a:lstStyle/>
          <a:p>
            <a:pPr algn="ctr"/>
            <a:r>
              <a:rPr sz="1600" b="1">
                <a:solidFill>
                  <a:srgbClr val="FFFFFF"/>
                </a:solidFill>
                <a:latin typeface="Calibri"/>
              </a:rPr>
              <a:t>LS</a:t>
            </a:r>
          </a:p>
        </p:txBody>
      </p:sp>
      <p:sp>
        <p:nvSpPr>
          <p:cNvPr id="28" name="TextBox 27"/>
          <p:cNvSpPr txBox="1"/>
          <p:nvPr/>
        </p:nvSpPr>
        <p:spPr>
          <a:xfrm>
            <a:off x="9171432" y="4892040"/>
            <a:ext cx="2331720" cy="320040"/>
          </a:xfrm>
          <a:prstGeom prst="rect">
            <a:avLst/>
          </a:prstGeom>
          <a:noFill/>
        </p:spPr>
        <p:txBody>
          <a:bodyPr wrap="square" anchor="t" lIns="0" rIns="0" tIns="0" bIns="0">
            <a:spAutoFit/>
          </a:bodyPr>
          <a:lstStyle/>
          <a:p>
            <a:r>
              <a:rPr sz="1700" b="1">
                <a:solidFill>
                  <a:srgbClr val="FFFFFF"/>
                </a:solidFill>
                <a:latin typeface="Calibri"/>
              </a:rPr>
              <a:t>Laksh Sorathiya</a:t>
            </a:r>
          </a:p>
        </p:txBody>
      </p:sp>
      <p:sp>
        <p:nvSpPr>
          <p:cNvPr id="29" name="TextBox 28"/>
          <p:cNvSpPr txBox="1"/>
          <p:nvPr/>
        </p:nvSpPr>
        <p:spPr>
          <a:xfrm>
            <a:off x="9171432" y="5230368"/>
            <a:ext cx="2331720" cy="274320"/>
          </a:xfrm>
          <a:prstGeom prst="rect">
            <a:avLst/>
          </a:prstGeom>
          <a:noFill/>
        </p:spPr>
        <p:txBody>
          <a:bodyPr wrap="square" anchor="t" lIns="0" rIns="0" tIns="0" bIns="0">
            <a:spAutoFit/>
          </a:bodyPr>
          <a:lstStyle/>
          <a:p>
            <a:r>
              <a:rPr sz="1100" b="0">
                <a:solidFill>
                  <a:srgbClr val="CFE3E6"/>
                </a:solidFill>
                <a:latin typeface="Calibri"/>
              </a:rPr>
              <a:t>Team Member</a:t>
            </a:r>
          </a:p>
        </p:txBody>
      </p:sp>
      <p:sp>
        <p:nvSpPr>
          <p:cNvPr id="30" name="TextBox 29"/>
          <p:cNvSpPr txBox="1"/>
          <p:nvPr/>
        </p:nvSpPr>
        <p:spPr>
          <a:xfrm>
            <a:off x="9171432" y="5532120"/>
            <a:ext cx="2331720" cy="274320"/>
          </a:xfrm>
          <a:prstGeom prst="rect">
            <a:avLst/>
          </a:prstGeom>
          <a:noFill/>
        </p:spPr>
        <p:txBody>
          <a:bodyPr wrap="square" anchor="t" lIns="0" rIns="0" tIns="0" bIns="0">
            <a:spAutoFit/>
          </a:bodyPr>
          <a:lstStyle/>
          <a:p>
            <a:r>
              <a:rPr sz="1100" b="0">
                <a:solidFill>
                  <a:srgbClr val="CFE3E6"/>
                </a:solidFill>
                <a:latin typeface="Calibri"/>
              </a:rPr>
              <a:t>sorathiyalaksh37@gmail.com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72C34"/>
        </a:solidFill>
      </p:bgPr>
    </p:bg>
    <p:spTree>
      <p:nvGrpSpPr>
        <p:cNvPr id="1" name=""/>
        <p:cNvGrpSpPr/>
        <p:nvPr/>
      </p:nvGrpSpPr>
      <p:grpSpPr>
        <a:xfrm>
          <a:off x="0" y="0"/>
          <a:ext cx="0" cy="0"/>
          <a:chOff x="0" y="0"/>
          <a:chExt cx="0" cy="0"/>
        </a:xfrm>
      </p:grpSpPr>
      <p:sp>
        <p:nvSpPr>
          <p:cNvPr id="2" name="Shape 0"/>
          <p:cNvSpPr/>
          <p:nvPr/>
        </p:nvSpPr>
        <p:spPr>
          <a:xfrm>
            <a:off x="8412480" y="-2194560"/>
            <a:ext cx="6400800" cy="6400800"/>
          </a:xfrm>
          <a:prstGeom prst="ellipse">
            <a:avLst/>
          </a:prstGeom>
          <a:solidFill>
            <a:srgbClr val="0B4F5C">
              <a:alpha val="45000"/>
            </a:srgbClr>
          </a:solidFill>
          <a:ln/>
        </p:spPr>
      </p:sp>
      <p:sp>
        <p:nvSpPr>
          <p:cNvPr id="3" name="Text 1"/>
          <p:cNvSpPr txBox="1"/>
          <p:nvPr/>
        </p:nvSpPr>
        <p:spPr>
          <a:xfrm>
            <a:off x="548640" y="640080"/>
            <a:ext cx="5943600" cy="320040"/>
          </a:xfrm>
          <a:prstGeom prst="rect">
            <a:avLst/>
          </a:prstGeom>
          <a:noFill/>
          <a:ln/>
        </p:spPr>
        <p:txBody>
          <a:bodyPr wrap="square" lIns="0" tIns="0" rIns="0" bIns="0" rtlCol="0" anchor="ctr"/>
          <a:lstStyle/>
          <a:p>
            <a:pPr indent="0" marL="0">
              <a:buNone/>
            </a:pPr>
            <a:r>
              <a:rPr lang="en-US" sz="1200" b="1" spc="300" kern="0" dirty="0">
                <a:solidFill>
                  <a:srgbClr val="E08A1E"/>
                </a:solidFill>
                <a:latin typeface="Calibri" pitchFamily="34" charset="0"/>
                <a:ea typeface="Calibri" pitchFamily="34" charset="-122"/>
                <a:cs typeface="Calibri" pitchFamily="34" charset="-120"/>
              </a:rPr>
              <a:t>NATIONAL DIGITAL PUBLIC GOOD  ·  INDIA</a:t>
            </a:r>
            <a:endParaRPr lang="en-US" sz="1200" dirty="0"/>
          </a:p>
        </p:txBody>
      </p:sp>
      <p:sp>
        <p:nvSpPr>
          <p:cNvPr id="4" name="Text 2"/>
          <p:cNvSpPr txBox="1"/>
          <p:nvPr/>
        </p:nvSpPr>
        <p:spPr>
          <a:xfrm>
            <a:off x="548640" y="1143000"/>
            <a:ext cx="585216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INFRA-AI</a:t>
            </a:r>
            <a:endParaRPr lang="en-US" sz="6000" dirty="0"/>
          </a:p>
        </p:txBody>
      </p:sp>
      <p:sp>
        <p:nvSpPr>
          <p:cNvPr id="5" name="Text 3"/>
          <p:cNvSpPr txBox="1"/>
          <p:nvPr/>
        </p:nvSpPr>
        <p:spPr>
          <a:xfrm>
            <a:off x="548640" y="2286000"/>
            <a:ext cx="5394960" cy="1371600"/>
          </a:xfrm>
          <a:prstGeom prst="rect">
            <a:avLst/>
          </a:prstGeom>
          <a:noFill/>
          <a:ln/>
        </p:spPr>
        <p:txBody>
          <a:bodyPr wrap="square" lIns="0" tIns="0" rIns="0" bIns="0" rtlCol="0" anchor="t"/>
          <a:lstStyle/>
          <a:p>
            <a:pPr indent="0" marL="0">
              <a:buNone/>
            </a:pPr>
            <a:r>
              <a:rPr lang="en-US" sz="2000" dirty="0">
                <a:solidFill>
                  <a:srgbClr val="CFE3E6"/>
                </a:solidFill>
                <a:latin typeface="Calibri" pitchFamily="34" charset="0"/>
                <a:ea typeface="Calibri" pitchFamily="34" charset="-122"/>
                <a:cs typeface="Calibri" pitchFamily="34" charset="-120"/>
              </a:rPr>
              <a:t>Pin any place in India. See what was built, what is coming, and what people are asking for — every claim cited.</a:t>
            </a:r>
            <a:endParaRPr lang="en-US" sz="2000" dirty="0"/>
          </a:p>
        </p:txBody>
      </p:sp>
      <p:sp>
        <p:nvSpPr>
          <p:cNvPr id="6" name="Text 4"/>
          <p:cNvSpPr txBox="1"/>
          <p:nvPr/>
        </p:nvSpPr>
        <p:spPr>
          <a:xfrm>
            <a:off x="548640" y="4709160"/>
            <a:ext cx="20574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1,42,905 km</a:t>
            </a:r>
            <a:endParaRPr lang="en-US" sz="2200" dirty="0"/>
          </a:p>
        </p:txBody>
      </p:sp>
      <p:sp>
        <p:nvSpPr>
          <p:cNvPr id="7" name="Text 5"/>
          <p:cNvSpPr txBox="1"/>
          <p:nvPr/>
        </p:nvSpPr>
        <p:spPr>
          <a:xfrm>
            <a:off x="548640" y="5257800"/>
            <a:ext cx="1828800" cy="457200"/>
          </a:xfrm>
          <a:prstGeom prst="rect">
            <a:avLst/>
          </a:prstGeom>
          <a:noFill/>
          <a:ln/>
        </p:spPr>
        <p:txBody>
          <a:bodyPr wrap="square" lIns="0" tIns="0" rIns="0" bIns="0" rtlCol="0" anchor="t"/>
          <a:lstStyle/>
          <a:p>
            <a:pPr indent="0" marL="0">
              <a:buNone/>
            </a:pPr>
            <a:r>
              <a:rPr lang="en-US" sz="1200" dirty="0">
                <a:solidFill>
                  <a:srgbClr val="9FC3C9"/>
                </a:solidFill>
                <a:latin typeface="Calibri" pitchFamily="34" charset="0"/>
                <a:ea typeface="Calibri" pitchFamily="34" charset="-122"/>
                <a:cs typeface="Calibri" pitchFamily="34" charset="-120"/>
              </a:rPr>
              <a:t>national highways mapped</a:t>
            </a:r>
            <a:endParaRPr lang="en-US" sz="1200" dirty="0"/>
          </a:p>
        </p:txBody>
      </p:sp>
      <p:sp>
        <p:nvSpPr>
          <p:cNvPr id="8" name="Text 6"/>
          <p:cNvSpPr txBox="1"/>
          <p:nvPr/>
        </p:nvSpPr>
        <p:spPr>
          <a:xfrm>
            <a:off x="2651760" y="4709160"/>
            <a:ext cx="20574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381</a:t>
            </a:r>
            <a:endParaRPr lang="en-US" sz="2200" dirty="0"/>
          </a:p>
        </p:txBody>
      </p:sp>
      <p:sp>
        <p:nvSpPr>
          <p:cNvPr id="9" name="Text 7"/>
          <p:cNvSpPr txBox="1"/>
          <p:nvPr/>
        </p:nvSpPr>
        <p:spPr>
          <a:xfrm>
            <a:off x="2651760" y="5257800"/>
            <a:ext cx="1828800" cy="457200"/>
          </a:xfrm>
          <a:prstGeom prst="rect">
            <a:avLst/>
          </a:prstGeom>
          <a:noFill/>
          <a:ln/>
        </p:spPr>
        <p:txBody>
          <a:bodyPr wrap="square" lIns="0" tIns="0" rIns="0" bIns="0" rtlCol="0" anchor="t"/>
          <a:lstStyle/>
          <a:p>
            <a:pPr indent="0" marL="0">
              <a:buNone/>
            </a:pPr>
            <a:r>
              <a:rPr lang="en-US" sz="1200" dirty="0">
                <a:solidFill>
                  <a:srgbClr val="9FC3C9"/>
                </a:solidFill>
                <a:latin typeface="Calibri" pitchFamily="34" charset="0"/>
                <a:ea typeface="Calibri" pitchFamily="34" charset="-122"/>
                <a:cs typeface="Calibri" pitchFamily="34" charset="-120"/>
              </a:rPr>
              <a:t>cities scored</a:t>
            </a:r>
            <a:endParaRPr lang="en-US" sz="1200" dirty="0"/>
          </a:p>
        </p:txBody>
      </p:sp>
      <p:sp>
        <p:nvSpPr>
          <p:cNvPr id="10" name="Text 8"/>
          <p:cNvSpPr txBox="1"/>
          <p:nvPr/>
        </p:nvSpPr>
        <p:spPr>
          <a:xfrm>
            <a:off x="4754880" y="4709160"/>
            <a:ext cx="20574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22</a:t>
            </a:r>
            <a:endParaRPr lang="en-US" sz="2200" dirty="0"/>
          </a:p>
        </p:txBody>
      </p:sp>
      <p:sp>
        <p:nvSpPr>
          <p:cNvPr id="11" name="Text 9"/>
          <p:cNvSpPr txBox="1"/>
          <p:nvPr/>
        </p:nvSpPr>
        <p:spPr>
          <a:xfrm>
            <a:off x="4754880" y="5257800"/>
            <a:ext cx="1828800" cy="457200"/>
          </a:xfrm>
          <a:prstGeom prst="rect">
            <a:avLst/>
          </a:prstGeom>
          <a:noFill/>
          <a:ln/>
        </p:spPr>
        <p:txBody>
          <a:bodyPr wrap="square" lIns="0" tIns="0" rIns="0" bIns="0" rtlCol="0" anchor="t"/>
          <a:lstStyle/>
          <a:p>
            <a:pPr indent="0" marL="0">
              <a:buNone/>
            </a:pPr>
            <a:r>
              <a:rPr lang="en-US" sz="1200" dirty="0">
                <a:solidFill>
                  <a:srgbClr val="9FC3C9"/>
                </a:solidFill>
                <a:latin typeface="Calibri" pitchFamily="34" charset="0"/>
                <a:ea typeface="Calibri" pitchFamily="34" charset="-122"/>
                <a:cs typeface="Calibri" pitchFamily="34" charset="-120"/>
              </a:rPr>
              <a:t>languages targeted</a:t>
            </a:r>
            <a:endParaRPr lang="en-US" sz="1200" dirty="0"/>
          </a:p>
        </p:txBody>
      </p:sp>
      <p:sp>
        <p:nvSpPr>
          <p:cNvPr id="12" name="Shape 10"/>
          <p:cNvSpPr/>
          <p:nvPr/>
        </p:nvSpPr>
        <p:spPr>
          <a:xfrm>
            <a:off x="6400800" y="1463040"/>
            <a:ext cx="5257800" cy="3304858"/>
          </a:xfrm>
          <a:prstGeom prst="roundRect">
            <a:avLst>
              <a:gd name="adj" fmla="val 2213"/>
            </a:avLst>
          </a:prstGeom>
          <a:solidFill>
            <a:srgbClr val="FFFFFF"/>
          </a:solidFill>
          <a:ln w="9525">
            <a:solidFill>
              <a:srgbClr val="D5E1E3"/>
            </a:solidFill>
            <a:prstDash val="solid"/>
          </a:ln>
          <a:effectLst>
            <a:outerShdw sx="100000" sy="100000" kx="0" ky="0" algn="bl" rotWithShape="0" blurRad="127000" dist="38100" dir="5400000">
              <a:srgbClr val="000000">
                <a:alpha val="22000"/>
              </a:srgbClr>
            </a:outerShdw>
          </a:effectLst>
        </p:spPr>
      </p:sp>
      <p:sp>
        <p:nvSpPr>
          <p:cNvPr id="13" name="Shape 11"/>
          <p:cNvSpPr/>
          <p:nvPr/>
        </p:nvSpPr>
        <p:spPr>
          <a:xfrm>
            <a:off x="6528816" y="1554480"/>
            <a:ext cx="91440" cy="91440"/>
          </a:xfrm>
          <a:prstGeom prst="ellipse">
            <a:avLst/>
          </a:prstGeom>
          <a:solidFill>
            <a:srgbClr val="E5736A"/>
          </a:solidFill>
          <a:ln/>
        </p:spPr>
      </p:sp>
      <p:sp>
        <p:nvSpPr>
          <p:cNvPr id="14" name="Shape 12"/>
          <p:cNvSpPr/>
          <p:nvPr/>
        </p:nvSpPr>
        <p:spPr>
          <a:xfrm>
            <a:off x="6675120" y="1554480"/>
            <a:ext cx="91440" cy="91440"/>
          </a:xfrm>
          <a:prstGeom prst="ellipse">
            <a:avLst/>
          </a:prstGeom>
          <a:solidFill>
            <a:srgbClr val="E8B84B"/>
          </a:solidFill>
          <a:ln/>
        </p:spPr>
      </p:sp>
      <p:sp>
        <p:nvSpPr>
          <p:cNvPr id="15" name="Shape 13"/>
          <p:cNvSpPr/>
          <p:nvPr/>
        </p:nvSpPr>
        <p:spPr>
          <a:xfrm>
            <a:off x="6821424" y="1554480"/>
            <a:ext cx="91440" cy="91440"/>
          </a:xfrm>
          <a:prstGeom prst="ellipse">
            <a:avLst/>
          </a:prstGeom>
          <a:solidFill>
            <a:srgbClr val="6BBF7A"/>
          </a:solidFill>
          <a:ln/>
        </p:spPr>
      </p:sp>
      <p:sp>
        <p:nvSpPr>
          <p:cNvPr id="16" name="Text 14"/>
          <p:cNvSpPr txBox="1"/>
          <p:nvPr/>
        </p:nvSpPr>
        <p:spPr>
          <a:xfrm>
            <a:off x="7040880" y="1463040"/>
            <a:ext cx="443484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infra-ai  ·  Explore your area</a:t>
            </a:r>
            <a:endParaRPr lang="en-US" sz="1000" dirty="0"/>
          </a:p>
        </p:txBody>
      </p:sp>
      <p:pic>
        <p:nvPicPr>
          <p:cNvPr id="17" name="Image 0" descr="/private/tmp/claude-501/-Users-punyasurana-Documents-INFRA-AI--claude-worktrees-six-slide-ppt-design-4aa896/0e2d93fe-4185-4348-bf6f-e59616f7d1d3/scratchpad/shots/c_home.png">    </p:cNvPr>
          <p:cNvPicPr>
            <a:picLocks noChangeAspect="1"/>
          </p:cNvPicPr>
          <p:nvPr/>
        </p:nvPicPr>
        <p:blipFill>
          <a:blip r:embed="rId1"/>
          <a:stretch>
            <a:fillRect/>
          </a:stretch>
        </p:blipFill>
        <p:spPr>
          <a:xfrm>
            <a:off x="6419088" y="1737360"/>
            <a:ext cx="5221224" cy="3012250"/>
          </a:xfrm>
          <a:prstGeom prst="rect">
            <a:avLst/>
          </a:prstGeom>
        </p:spPr>
      </p:pic>
      <p:sp>
        <p:nvSpPr>
          <p:cNvPr id="18" name="Text 15"/>
          <p:cNvSpPr txBox="1"/>
          <p:nvPr/>
        </p:nvSpPr>
        <p:spPr>
          <a:xfrm>
            <a:off x="548640" y="6172200"/>
            <a:ext cx="7315200" cy="274320"/>
          </a:xfrm>
          <a:prstGeom prst="rect">
            <a:avLst/>
          </a:prstGeom>
          <a:noFill/>
          <a:ln/>
        </p:spPr>
        <p:txBody>
          <a:bodyPr wrap="square" lIns="0" tIns="0" rIns="0" bIns="0" rtlCol="0" anchor="ctr"/>
          <a:lstStyle/>
          <a:p>
            <a:pPr indent="0" marL="0">
              <a:buNone/>
            </a:pPr>
            <a:r>
              <a:rPr lang="en-US" sz="1100" dirty="0">
                <a:solidFill>
                  <a:srgbClr val="7FA9B0"/>
                </a:solidFill>
                <a:latin typeface="Calibri" pitchFamily="34" charset="0"/>
                <a:ea typeface="Calibri" pitchFamily="34" charset="-122"/>
                <a:cs typeface="Calibri" pitchFamily="34" charset="-120"/>
              </a:rPr>
              <a:t>Location-first infrastructure intelligence · Problem · Solution · Feasibility</a:t>
            </a:r>
            <a:endParaRPr lang="en-US" sz="11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spcAft>
                <a:spcPts val="0"/>
              </a:spcAft>
            </a:pPr>
            <a:r>
              <a:rPr sz="3000" b="1">
                <a:solidFill>
                  <a:srgbClr val="14232B"/>
                </a:solidFill>
                <a:latin typeface="Cambria"/>
              </a:rPr>
              <a:t>Problem statement 01: AI for Digital Public Infrastructure &amp; Governance</a:t>
            </a:r>
          </a:p>
        </p:txBody>
      </p:sp>
      <p:sp>
        <p:nvSpPr>
          <p:cNvPr id="3" name="TextBox 2"/>
          <p:cNvSpPr txBox="1"/>
          <p:nvPr/>
        </p:nvSpPr>
        <p:spPr>
          <a:xfrm>
            <a:off x="548640" y="1115568"/>
            <a:ext cx="11064240" cy="365760"/>
          </a:xfrm>
          <a:prstGeom prst="rect">
            <a:avLst/>
          </a:prstGeom>
          <a:noFill/>
        </p:spPr>
        <p:txBody>
          <a:bodyPr wrap="square" anchor="ctr" lIns="0" rIns="0" tIns="0" bIns="0">
            <a:spAutoFit/>
          </a:bodyPr>
          <a:lstStyle/>
          <a:p>
            <a:pPr>
              <a:spcAft>
                <a:spcPts val="0"/>
              </a:spcAft>
            </a:pPr>
            <a:r>
              <a:rPr sz="1500" b="0">
                <a:solidFill>
                  <a:srgbClr val="5B6B72"/>
                </a:solidFill>
                <a:latin typeface="Calibri"/>
              </a:rPr>
              <a:t>Build with AI: Code for Communities, Second Edition  ·  Theme: Innovation  ·  Our chosen problem</a:t>
            </a:r>
          </a:p>
        </p:txBody>
      </p:sp>
      <p:sp>
        <p:nvSpPr>
          <p:cNvPr id="4" name="Rounded Rectangle 3"/>
          <p:cNvSpPr/>
          <p:nvPr/>
        </p:nvSpPr>
        <p:spPr>
          <a:xfrm>
            <a:off x="548640" y="1737360"/>
            <a:ext cx="7040880" cy="1600200"/>
          </a:xfrm>
          <a:prstGeom prst="roundRect">
            <a:avLst>
              <a:gd name="adj" fmla="val 4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6583680" cy="274320"/>
          </a:xfrm>
          <a:prstGeom prst="rect">
            <a:avLst/>
          </a:prstGeom>
          <a:noFill/>
        </p:spPr>
        <p:txBody>
          <a:bodyPr wrap="square" anchor="t" lIns="0" rIns="0" tIns="0" bIns="0">
            <a:spAutoFit/>
          </a:bodyPr>
          <a:lstStyle/>
          <a:p>
            <a:pPr>
              <a:spcAft>
                <a:spcPts val="0"/>
              </a:spcAft>
            </a:pPr>
            <a:r>
              <a:rPr sz="1200" b="1">
                <a:solidFill>
                  <a:srgbClr val="0B4F5C"/>
                </a:solidFill>
                <a:latin typeface="Calibri"/>
              </a:rPr>
              <a:t>THE PROBLEM</a:t>
            </a:r>
          </a:p>
        </p:txBody>
      </p:sp>
      <p:sp>
        <p:nvSpPr>
          <p:cNvPr id="6" name="TextBox 5"/>
          <p:cNvSpPr txBox="1"/>
          <p:nvPr/>
        </p:nvSpPr>
        <p:spPr>
          <a:xfrm>
            <a:off x="777240" y="2194560"/>
            <a:ext cx="6583680" cy="1097280"/>
          </a:xfrm>
          <a:prstGeom prst="rect">
            <a:avLst/>
          </a:prstGeom>
          <a:noFill/>
        </p:spPr>
        <p:txBody>
          <a:bodyPr wrap="square" anchor="t" lIns="0" rIns="0" tIns="0" bIns="0">
            <a:spAutoFit/>
          </a:bodyPr>
          <a:lstStyle/>
          <a:p>
            <a:pPr>
              <a:spcAft>
                <a:spcPts val="0"/>
              </a:spcAft>
            </a:pPr>
            <a:r>
              <a:rPr sz="1400" b="0">
                <a:solidFill>
                  <a:srgbClr val="14232B"/>
                </a:solidFill>
                <a:latin typeface="Calibri"/>
              </a:rPr>
              <a:t>Governments across India struggle to consolidate citizen feedback and align it with national infrastructure priorities. Development requests live in fragmented systems, leading to misaligned public spending, unaddressed infrastructure gaps, and no way to measure the impact of large-scale digital public infrastructure initiatives.</a:t>
            </a:r>
          </a:p>
        </p:txBody>
      </p:sp>
      <p:sp>
        <p:nvSpPr>
          <p:cNvPr id="7" name="Rounded Rectangle 6"/>
          <p:cNvSpPr/>
          <p:nvPr/>
        </p:nvSpPr>
        <p:spPr>
          <a:xfrm>
            <a:off x="548640" y="3520440"/>
            <a:ext cx="7040880" cy="2651760"/>
          </a:xfrm>
          <a:prstGeom prst="roundRect">
            <a:avLst>
              <a:gd name="adj" fmla="val 4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657600"/>
            <a:ext cx="6583680" cy="274320"/>
          </a:xfrm>
          <a:prstGeom prst="rect">
            <a:avLst/>
          </a:prstGeom>
          <a:noFill/>
        </p:spPr>
        <p:txBody>
          <a:bodyPr wrap="square" anchor="t" lIns="0" rIns="0" tIns="0" bIns="0">
            <a:spAutoFit/>
          </a:bodyPr>
          <a:lstStyle/>
          <a:p>
            <a:pPr>
              <a:spcAft>
                <a:spcPts val="0"/>
              </a:spcAft>
            </a:pPr>
            <a:r>
              <a:rPr sz="1200" b="1">
                <a:solidFill>
                  <a:srgbClr val="0B4F5C"/>
                </a:solidFill>
                <a:latin typeface="Calibri"/>
              </a:rPr>
              <a:t>THE CHALLENGE</a:t>
            </a:r>
          </a:p>
        </p:txBody>
      </p:sp>
      <p:sp>
        <p:nvSpPr>
          <p:cNvPr id="9" name="TextBox 8"/>
          <p:cNvSpPr txBox="1"/>
          <p:nvPr/>
        </p:nvSpPr>
        <p:spPr>
          <a:xfrm>
            <a:off x="777240" y="3977639"/>
            <a:ext cx="6583680" cy="2103120"/>
          </a:xfrm>
          <a:prstGeom prst="rect">
            <a:avLst/>
          </a:prstGeom>
          <a:noFill/>
        </p:spPr>
        <p:txBody>
          <a:bodyPr wrap="square" anchor="t" lIns="0" rIns="0" tIns="0" bIns="0">
            <a:spAutoFit/>
          </a:bodyPr>
          <a:lstStyle/>
          <a:p>
            <a:pPr>
              <a:spcAft>
                <a:spcPts val="0"/>
              </a:spcAft>
            </a:pPr>
            <a:r>
              <a:rPr sz="1400" b="0">
                <a:solidFill>
                  <a:srgbClr val="14232B"/>
                </a:solidFill>
                <a:latin typeface="Calibri"/>
              </a:rPr>
              <a:t>Build a scalable, multilingual AI platform, designed as a Digital Public Good, that aggregates citizen development requests via voice, text, and messaging apps across diverse linguistic regions of India. The system should analyse large datasets combining citizen feedback with national demographic data, infrastructure indices, and public investment plans, surfacing demand hotspots and recommending high-priority development projects to national policymakers.</a:t>
            </a:r>
          </a:p>
        </p:txBody>
      </p:sp>
      <p:sp>
        <p:nvSpPr>
          <p:cNvPr id="10" name="Rounded Rectangle 9"/>
          <p:cNvSpPr/>
          <p:nvPr/>
        </p:nvSpPr>
        <p:spPr>
          <a:xfrm>
            <a:off x="7863840" y="1737360"/>
            <a:ext cx="3776472" cy="4434840"/>
          </a:xfrm>
          <a:prstGeom prst="roundRect">
            <a:avLst>
              <a:gd name="adj" fmla="val 4000"/>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874519"/>
            <a:ext cx="3337560" cy="365760"/>
          </a:xfrm>
          <a:prstGeom prst="rect">
            <a:avLst/>
          </a:prstGeom>
          <a:noFill/>
        </p:spPr>
        <p:txBody>
          <a:bodyPr wrap="square" anchor="t" lIns="0" rIns="0" tIns="0" bIns="0">
            <a:spAutoFit/>
          </a:bodyPr>
          <a:lstStyle/>
          <a:p>
            <a:pPr>
              <a:spcAft>
                <a:spcPts val="0"/>
              </a:spcAft>
            </a:pPr>
            <a:r>
              <a:rPr sz="1800" b="1">
                <a:solidFill>
                  <a:srgbClr val="FFFFFF"/>
                </a:solidFill>
                <a:latin typeface="Cambria"/>
              </a:rPr>
              <a:t>How INFRA-AI answers it</a:t>
            </a:r>
          </a:p>
        </p:txBody>
      </p:sp>
      <p:sp>
        <p:nvSpPr>
          <p:cNvPr id="12" name="TextBox 11"/>
          <p:cNvSpPr txBox="1"/>
          <p:nvPr/>
        </p:nvSpPr>
        <p:spPr>
          <a:xfrm>
            <a:off x="8092440" y="2423160"/>
            <a:ext cx="3337560" cy="274320"/>
          </a:xfrm>
          <a:prstGeom prst="rect">
            <a:avLst/>
          </a:prstGeom>
          <a:noFill/>
        </p:spPr>
        <p:txBody>
          <a:bodyPr wrap="square" anchor="t" lIns="0" rIns="0" tIns="0" bIns="0">
            <a:spAutoFit/>
          </a:bodyPr>
          <a:lstStyle/>
          <a:p>
            <a:pPr>
              <a:spcAft>
                <a:spcPts val="0"/>
              </a:spcAft>
            </a:pPr>
            <a:r>
              <a:rPr sz="1400" b="1">
                <a:solidFill>
                  <a:srgbClr val="FFFFFF"/>
                </a:solidFill>
                <a:latin typeface="Calibri"/>
              </a:rPr>
              <a:t>Every request, every language</a:t>
            </a:r>
          </a:p>
        </p:txBody>
      </p:sp>
      <p:sp>
        <p:nvSpPr>
          <p:cNvPr id="13" name="TextBox 12"/>
          <p:cNvSpPr txBox="1"/>
          <p:nvPr/>
        </p:nvSpPr>
        <p:spPr>
          <a:xfrm>
            <a:off x="8092440" y="2715768"/>
            <a:ext cx="3337560" cy="548640"/>
          </a:xfrm>
          <a:prstGeom prst="rect">
            <a:avLst/>
          </a:prstGeom>
          <a:noFill/>
        </p:spPr>
        <p:txBody>
          <a:bodyPr wrap="square" anchor="t" lIns="0" rIns="0" tIns="0" bIns="0">
            <a:spAutoFit/>
          </a:bodyPr>
          <a:lstStyle/>
          <a:p>
            <a:pPr>
              <a:spcAft>
                <a:spcPts val="0"/>
              </a:spcAft>
            </a:pPr>
            <a:r>
              <a:rPr sz="1200" b="0">
                <a:solidFill>
                  <a:srgbClr val="CADCE0"/>
                </a:solidFill>
                <a:latin typeface="Calibri"/>
              </a:rPr>
              <a:t>Voice, text and messaging intake in 22 languages</a:t>
            </a:r>
          </a:p>
        </p:txBody>
      </p:sp>
      <p:sp>
        <p:nvSpPr>
          <p:cNvPr id="14" name="TextBox 13"/>
          <p:cNvSpPr txBox="1"/>
          <p:nvPr/>
        </p:nvSpPr>
        <p:spPr>
          <a:xfrm>
            <a:off x="8092440" y="3355848"/>
            <a:ext cx="3337560" cy="274320"/>
          </a:xfrm>
          <a:prstGeom prst="rect">
            <a:avLst/>
          </a:prstGeom>
          <a:noFill/>
        </p:spPr>
        <p:txBody>
          <a:bodyPr wrap="square" anchor="t" lIns="0" rIns="0" tIns="0" bIns="0">
            <a:spAutoFit/>
          </a:bodyPr>
          <a:lstStyle/>
          <a:p>
            <a:pPr>
              <a:spcAft>
                <a:spcPts val="0"/>
              </a:spcAft>
            </a:pPr>
            <a:r>
              <a:rPr sz="1400" b="1">
                <a:solidFill>
                  <a:srgbClr val="FFFFFF"/>
                </a:solidFill>
                <a:latin typeface="Calibri"/>
              </a:rPr>
              <a:t>One view of a place</a:t>
            </a:r>
          </a:p>
        </p:txBody>
      </p:sp>
      <p:sp>
        <p:nvSpPr>
          <p:cNvPr id="15" name="TextBox 14"/>
          <p:cNvSpPr txBox="1"/>
          <p:nvPr/>
        </p:nvSpPr>
        <p:spPr>
          <a:xfrm>
            <a:off x="8092440" y="3648456"/>
            <a:ext cx="3337560" cy="548640"/>
          </a:xfrm>
          <a:prstGeom prst="rect">
            <a:avLst/>
          </a:prstGeom>
          <a:noFill/>
        </p:spPr>
        <p:txBody>
          <a:bodyPr wrap="square" anchor="t" lIns="0" rIns="0" tIns="0" bIns="0">
            <a:spAutoFit/>
          </a:bodyPr>
          <a:lstStyle/>
          <a:p>
            <a:pPr>
              <a:spcAft>
                <a:spcPts val="0"/>
              </a:spcAft>
            </a:pPr>
            <a:r>
              <a:rPr sz="1200" b="0">
                <a:solidFill>
                  <a:srgbClr val="CADCE0"/>
                </a:solidFill>
                <a:latin typeface="Calibri"/>
              </a:rPr>
              <a:t>Requests joined to demographics, infrastructure and investment plans</a:t>
            </a:r>
          </a:p>
        </p:txBody>
      </p:sp>
      <p:sp>
        <p:nvSpPr>
          <p:cNvPr id="16" name="TextBox 15"/>
          <p:cNvSpPr txBox="1"/>
          <p:nvPr/>
        </p:nvSpPr>
        <p:spPr>
          <a:xfrm>
            <a:off x="8092440" y="4288536"/>
            <a:ext cx="3337560" cy="274320"/>
          </a:xfrm>
          <a:prstGeom prst="rect">
            <a:avLst/>
          </a:prstGeom>
          <a:noFill/>
        </p:spPr>
        <p:txBody>
          <a:bodyPr wrap="square" anchor="t" lIns="0" rIns="0" tIns="0" bIns="0">
            <a:spAutoFit/>
          </a:bodyPr>
          <a:lstStyle/>
          <a:p>
            <a:pPr>
              <a:spcAft>
                <a:spcPts val="0"/>
              </a:spcAft>
            </a:pPr>
            <a:r>
              <a:rPr sz="1400" b="1">
                <a:solidFill>
                  <a:srgbClr val="FFFFFF"/>
                </a:solidFill>
                <a:latin typeface="Calibri"/>
              </a:rPr>
              <a:t>Hotspots and priorities</a:t>
            </a:r>
          </a:p>
        </p:txBody>
      </p:sp>
      <p:sp>
        <p:nvSpPr>
          <p:cNvPr id="17" name="TextBox 16"/>
          <p:cNvSpPr txBox="1"/>
          <p:nvPr/>
        </p:nvSpPr>
        <p:spPr>
          <a:xfrm>
            <a:off x="8092440" y="4581144"/>
            <a:ext cx="3337560" cy="548640"/>
          </a:xfrm>
          <a:prstGeom prst="rect">
            <a:avLst/>
          </a:prstGeom>
          <a:noFill/>
        </p:spPr>
        <p:txBody>
          <a:bodyPr wrap="square" anchor="t" lIns="0" rIns="0" tIns="0" bIns="0">
            <a:spAutoFit/>
          </a:bodyPr>
          <a:lstStyle/>
          <a:p>
            <a:pPr>
              <a:spcAft>
                <a:spcPts val="0"/>
              </a:spcAft>
            </a:pPr>
            <a:r>
              <a:rPr sz="1200" b="0">
                <a:solidFill>
                  <a:srgbClr val="CADCE0"/>
                </a:solidFill>
                <a:latin typeface="Calibri"/>
              </a:rPr>
              <a:t>Explainable scores for policymakers, each with cited facts</a:t>
            </a:r>
          </a:p>
        </p:txBody>
      </p:sp>
      <p:sp>
        <p:nvSpPr>
          <p:cNvPr id="18" name="TextBox 17"/>
          <p:cNvSpPr txBox="1"/>
          <p:nvPr/>
        </p:nvSpPr>
        <p:spPr>
          <a:xfrm>
            <a:off x="8092440" y="5221223"/>
            <a:ext cx="3337560" cy="274320"/>
          </a:xfrm>
          <a:prstGeom prst="rect">
            <a:avLst/>
          </a:prstGeom>
          <a:noFill/>
        </p:spPr>
        <p:txBody>
          <a:bodyPr wrap="square" anchor="t" lIns="0" rIns="0" tIns="0" bIns="0">
            <a:spAutoFit/>
          </a:bodyPr>
          <a:lstStyle/>
          <a:p>
            <a:pPr>
              <a:spcAft>
                <a:spcPts val="0"/>
              </a:spcAft>
            </a:pPr>
            <a:r>
              <a:rPr sz="1400" b="1">
                <a:solidFill>
                  <a:srgbClr val="FFFFFF"/>
                </a:solidFill>
                <a:latin typeface="Calibri"/>
              </a:rPr>
              <a:t>Open by design</a:t>
            </a:r>
          </a:p>
        </p:txBody>
      </p:sp>
      <p:sp>
        <p:nvSpPr>
          <p:cNvPr id="19" name="TextBox 18"/>
          <p:cNvSpPr txBox="1"/>
          <p:nvPr/>
        </p:nvSpPr>
        <p:spPr>
          <a:xfrm>
            <a:off x="8092440" y="5513831"/>
            <a:ext cx="3337560" cy="548640"/>
          </a:xfrm>
          <a:prstGeom prst="rect">
            <a:avLst/>
          </a:prstGeom>
          <a:noFill/>
        </p:spPr>
        <p:txBody>
          <a:bodyPr wrap="square" anchor="t" lIns="0" rIns="0" tIns="0" bIns="0">
            <a:spAutoFit/>
          </a:bodyPr>
          <a:lstStyle/>
          <a:p>
            <a:pPr>
              <a:spcAft>
                <a:spcPts val="0"/>
              </a:spcAft>
            </a:pPr>
            <a:r>
              <a:rPr sz="1200" b="0">
                <a:solidFill>
                  <a:srgbClr val="CADCE0"/>
                </a:solidFill>
                <a:latin typeface="Calibri"/>
              </a:rPr>
              <a:t>A Digital Public Good: open data, open code, privacy by default</a:t>
            </a:r>
          </a:p>
        </p:txBody>
      </p:sp>
      <p:sp>
        <p:nvSpPr>
          <p:cNvPr id="20" name="TextBox 19"/>
          <p:cNvSpPr txBox="1"/>
          <p:nvPr/>
        </p:nvSpPr>
        <p:spPr>
          <a:xfrm>
            <a:off x="548640" y="6446520"/>
            <a:ext cx="5486400" cy="274320"/>
          </a:xfrm>
          <a:prstGeom prst="rect">
            <a:avLst/>
          </a:prstGeom>
          <a:noFill/>
        </p:spPr>
        <p:txBody>
          <a:bodyPr wrap="square" anchor="t" lIns="0" rIns="0" tIns="0" bIns="0">
            <a:spAutoFit/>
          </a:bodyPr>
          <a:lstStyle/>
          <a:p>
            <a:pPr>
              <a:spcAft>
                <a:spcPts val="0"/>
              </a:spcAft>
            </a:pPr>
            <a:r>
              <a:rPr sz="1000" b="0">
                <a:solidFill>
                  <a:srgbClr val="5B6B72"/>
                </a:solidFill>
                <a:latin typeface="Calibri"/>
              </a:rPr>
              <a:t>INFRA-AI  ·  Digital Public Good</a:t>
            </a:r>
          </a:p>
        </p:txBody>
      </p:sp>
      <p:sp>
        <p:nvSpPr>
          <p:cNvPr id="21" name="TextBox 20"/>
          <p:cNvSpPr txBox="1"/>
          <p:nvPr/>
        </p:nvSpPr>
        <p:spPr>
          <a:xfrm>
            <a:off x="11091672" y="6446520"/>
            <a:ext cx="548640" cy="274320"/>
          </a:xfrm>
          <a:prstGeom prst="rect">
            <a:avLst/>
          </a:prstGeom>
          <a:noFill/>
        </p:spPr>
        <p:txBody>
          <a:bodyPr wrap="square" anchor="t" lIns="0" rIns="0" tIns="0" bIns="0">
            <a:spAutoFit/>
          </a:bodyPr>
          <a:lstStyle/>
          <a:p>
            <a:pPr algn="r">
              <a:spcAft>
                <a:spcPts val="0"/>
              </a:spcAft>
            </a:pPr>
            <a:r>
              <a:rPr sz="1000" b="0">
                <a:solidFill>
                  <a:srgbClr val="5B6B72"/>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rgbClr val="14232B"/>
                </a:solidFill>
                <a:latin typeface="Cambria" pitchFamily="34" charset="0"/>
                <a:ea typeface="Cambria" pitchFamily="34" charset="-122"/>
                <a:cs typeface="Cambria" pitchFamily="34" charset="-120"/>
              </a:rPr>
              <a:t>Infrastructure data is scattered — so needs go unseen</a:t>
            </a:r>
            <a:endParaRPr lang="en-US" sz="3400" dirty="0"/>
          </a:p>
        </p:txBody>
      </p:sp>
      <p:sp>
        <p:nvSpPr>
          <p:cNvPr id="3" name="Text 1"/>
          <p:cNvSpPr txBox="1"/>
          <p:nvPr/>
        </p:nvSpPr>
        <p:spPr>
          <a:xfrm>
            <a:off x="548640" y="1115568"/>
            <a:ext cx="11064240" cy="365760"/>
          </a:xfrm>
          <a:prstGeom prst="rect">
            <a:avLst/>
          </a:prstGeom>
          <a:noFill/>
          <a:ln/>
        </p:spPr>
        <p:txBody>
          <a:bodyPr wrap="square" lIns="0" tIns="0" rIns="0" bIns="0" rtlCol="0" anchor="ctr"/>
          <a:lstStyle/>
          <a:p>
            <a:pPr indent="0" marL="0">
              <a:buNone/>
            </a:pPr>
            <a:r>
              <a:rPr lang="en-US" sz="1500" dirty="0">
                <a:solidFill>
                  <a:srgbClr val="5B6B72"/>
                </a:solidFill>
                <a:latin typeface="Calibri" pitchFamily="34" charset="0"/>
                <a:ea typeface="Calibri" pitchFamily="34" charset="-122"/>
                <a:cs typeface="Calibri" pitchFamily="34" charset="-120"/>
              </a:rPr>
              <a:t>Citizen requests, plans and spending live in separate systems and languages. Nobody sees one place whole.</a:t>
            </a:r>
            <a:endParaRPr lang="en-US" sz="1500" dirty="0"/>
          </a:p>
        </p:txBody>
      </p:sp>
      <p:sp>
        <p:nvSpPr>
          <p:cNvPr id="4" name="Shape 2"/>
          <p:cNvSpPr/>
          <p:nvPr/>
        </p:nvSpPr>
        <p:spPr>
          <a:xfrm>
            <a:off x="548640" y="1874520"/>
            <a:ext cx="2148840" cy="2057400"/>
          </a:xfrm>
          <a:prstGeom prst="roundRect">
            <a:avLst>
              <a:gd name="adj" fmla="val 4444"/>
            </a:avLst>
          </a:prstGeom>
          <a:solidFill>
            <a:srgbClr val="EAF2F3"/>
          </a:solidFill>
          <a:ln/>
        </p:spPr>
      </p:sp>
      <p:sp>
        <p:nvSpPr>
          <p:cNvPr id="5" name="Shape 3"/>
          <p:cNvSpPr/>
          <p:nvPr/>
        </p:nvSpPr>
        <p:spPr>
          <a:xfrm>
            <a:off x="731520" y="2057400"/>
            <a:ext cx="457200" cy="457200"/>
          </a:xfrm>
          <a:prstGeom prst="ellipse">
            <a:avLst/>
          </a:prstGeom>
          <a:solidFill>
            <a:srgbClr val="0B4F5C"/>
          </a:solidFill>
          <a:ln/>
        </p:spPr>
      </p:sp>
      <p:pic>
        <p:nvPicPr>
          <p:cNvPr id="6" name="Image 0" descr="preencoded.png">    </p:cNvPr>
          <p:cNvPicPr>
            <a:picLocks noChangeAspect="1"/>
          </p:cNvPicPr>
          <p:nvPr/>
        </p:nvPicPr>
        <p:blipFill>
          <a:blip r:embed="rId1"/>
          <a:stretch>
            <a:fillRect/>
          </a:stretch>
        </p:blipFill>
        <p:spPr>
          <a:xfrm>
            <a:off x="850392" y="2176272"/>
            <a:ext cx="219456" cy="219456"/>
          </a:xfrm>
          <a:prstGeom prst="rect">
            <a:avLst/>
          </a:prstGeom>
        </p:spPr>
      </p:pic>
      <p:sp>
        <p:nvSpPr>
          <p:cNvPr id="7" name="Text 4"/>
          <p:cNvSpPr txBox="1"/>
          <p:nvPr/>
        </p:nvSpPr>
        <p:spPr>
          <a:xfrm>
            <a:off x="731520" y="2624328"/>
            <a:ext cx="178308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Map apps &amp; OSM</a:t>
            </a:r>
            <a:endParaRPr lang="en-US" sz="1400" dirty="0"/>
          </a:p>
        </p:txBody>
      </p:sp>
      <p:sp>
        <p:nvSpPr>
          <p:cNvPr id="8" name="Text 5"/>
          <p:cNvSpPr txBox="1"/>
          <p:nvPr/>
        </p:nvSpPr>
        <p:spPr>
          <a:xfrm>
            <a:off x="731520" y="2971800"/>
            <a:ext cx="1783080" cy="8686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Show what exists. Miss history, plans, project status.</a:t>
            </a:r>
            <a:endParaRPr lang="en-US" sz="1200" dirty="0"/>
          </a:p>
        </p:txBody>
      </p:sp>
      <p:sp>
        <p:nvSpPr>
          <p:cNvPr id="9" name="Shape 6"/>
          <p:cNvSpPr/>
          <p:nvPr/>
        </p:nvSpPr>
        <p:spPr>
          <a:xfrm>
            <a:off x="2903220" y="1874520"/>
            <a:ext cx="2148840" cy="2057400"/>
          </a:xfrm>
          <a:prstGeom prst="roundRect">
            <a:avLst>
              <a:gd name="adj" fmla="val 4444"/>
            </a:avLst>
          </a:prstGeom>
          <a:solidFill>
            <a:srgbClr val="EAF2F3"/>
          </a:solidFill>
          <a:ln/>
        </p:spPr>
      </p:sp>
      <p:sp>
        <p:nvSpPr>
          <p:cNvPr id="10" name="Shape 7"/>
          <p:cNvSpPr/>
          <p:nvPr/>
        </p:nvSpPr>
        <p:spPr>
          <a:xfrm>
            <a:off x="3086100" y="2057400"/>
            <a:ext cx="457200" cy="457200"/>
          </a:xfrm>
          <a:prstGeom prst="ellipse">
            <a:avLst/>
          </a:prstGeom>
          <a:solidFill>
            <a:srgbClr val="0B4F5C"/>
          </a:solidFill>
          <a:ln/>
        </p:spPr>
      </p:sp>
      <p:pic>
        <p:nvPicPr>
          <p:cNvPr id="11" name="Image 1" descr="preencoded.png">    </p:cNvPr>
          <p:cNvPicPr>
            <a:picLocks noChangeAspect="1"/>
          </p:cNvPicPr>
          <p:nvPr/>
        </p:nvPicPr>
        <p:blipFill>
          <a:blip r:embed="rId2"/>
          <a:stretch>
            <a:fillRect/>
          </a:stretch>
        </p:blipFill>
        <p:spPr>
          <a:xfrm>
            <a:off x="3204972" y="2176272"/>
            <a:ext cx="219456" cy="219456"/>
          </a:xfrm>
          <a:prstGeom prst="rect">
            <a:avLst/>
          </a:prstGeom>
        </p:spPr>
      </p:pic>
      <p:sp>
        <p:nvSpPr>
          <p:cNvPr id="12" name="Text 8"/>
          <p:cNvSpPr txBox="1"/>
          <p:nvPr/>
        </p:nvSpPr>
        <p:spPr>
          <a:xfrm>
            <a:off x="3086100" y="2624328"/>
            <a:ext cx="178308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Agency PDFs</a:t>
            </a:r>
            <a:endParaRPr lang="en-US" sz="1400" dirty="0"/>
          </a:p>
        </p:txBody>
      </p:sp>
      <p:sp>
        <p:nvSpPr>
          <p:cNvPr id="13" name="Text 9"/>
          <p:cNvSpPr txBox="1"/>
          <p:nvPr/>
        </p:nvSpPr>
        <p:spPr>
          <a:xfrm>
            <a:off x="3086100" y="2971800"/>
            <a:ext cx="1783080" cy="8686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Each agency shows its own projects. No common map.</a:t>
            </a:r>
            <a:endParaRPr lang="en-US" sz="1200" dirty="0"/>
          </a:p>
        </p:txBody>
      </p:sp>
      <p:sp>
        <p:nvSpPr>
          <p:cNvPr id="14" name="Shape 10"/>
          <p:cNvSpPr/>
          <p:nvPr/>
        </p:nvSpPr>
        <p:spPr>
          <a:xfrm>
            <a:off x="5257800" y="1874520"/>
            <a:ext cx="2148840" cy="2057400"/>
          </a:xfrm>
          <a:prstGeom prst="roundRect">
            <a:avLst>
              <a:gd name="adj" fmla="val 4444"/>
            </a:avLst>
          </a:prstGeom>
          <a:solidFill>
            <a:srgbClr val="EAF2F3"/>
          </a:solidFill>
          <a:ln/>
        </p:spPr>
      </p:sp>
      <p:sp>
        <p:nvSpPr>
          <p:cNvPr id="15" name="Shape 11"/>
          <p:cNvSpPr/>
          <p:nvPr/>
        </p:nvSpPr>
        <p:spPr>
          <a:xfrm>
            <a:off x="5440680" y="2057400"/>
            <a:ext cx="457200" cy="457200"/>
          </a:xfrm>
          <a:prstGeom prst="ellipse">
            <a:avLst/>
          </a:prstGeom>
          <a:solidFill>
            <a:srgbClr val="0B4F5C"/>
          </a:solidFill>
          <a:ln/>
        </p:spPr>
      </p:sp>
      <p:pic>
        <p:nvPicPr>
          <p:cNvPr id="16" name="Image 2" descr="preencoded.png">    </p:cNvPr>
          <p:cNvPicPr>
            <a:picLocks noChangeAspect="1"/>
          </p:cNvPicPr>
          <p:nvPr/>
        </p:nvPicPr>
        <p:blipFill>
          <a:blip r:embed="rId3"/>
          <a:stretch>
            <a:fillRect/>
          </a:stretch>
        </p:blipFill>
        <p:spPr>
          <a:xfrm>
            <a:off x="5559552" y="2176272"/>
            <a:ext cx="219456" cy="219456"/>
          </a:xfrm>
          <a:prstGeom prst="rect">
            <a:avLst/>
          </a:prstGeom>
        </p:spPr>
      </p:pic>
      <p:sp>
        <p:nvSpPr>
          <p:cNvPr id="17" name="Text 12"/>
          <p:cNvSpPr txBox="1"/>
          <p:nvPr/>
        </p:nvSpPr>
        <p:spPr>
          <a:xfrm>
            <a:off x="5440680" y="2624328"/>
            <a:ext cx="178308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Tender portals</a:t>
            </a:r>
            <a:endParaRPr lang="en-US" sz="1400" dirty="0"/>
          </a:p>
        </p:txBody>
      </p:sp>
      <p:sp>
        <p:nvSpPr>
          <p:cNvPr id="18" name="Text 13"/>
          <p:cNvSpPr txBox="1"/>
          <p:nvPr/>
        </p:nvSpPr>
        <p:spPr>
          <a:xfrm>
            <a:off x="5440680" y="2971800"/>
            <a:ext cx="1783080" cy="8686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Earliest signal of new work. No plain-language meaning, no location.</a:t>
            </a:r>
            <a:endParaRPr lang="en-US" sz="1200" dirty="0"/>
          </a:p>
        </p:txBody>
      </p:sp>
      <p:sp>
        <p:nvSpPr>
          <p:cNvPr id="19" name="Shape 14"/>
          <p:cNvSpPr/>
          <p:nvPr/>
        </p:nvSpPr>
        <p:spPr>
          <a:xfrm>
            <a:off x="548640" y="4114800"/>
            <a:ext cx="2148840" cy="2057400"/>
          </a:xfrm>
          <a:prstGeom prst="roundRect">
            <a:avLst>
              <a:gd name="adj" fmla="val 4444"/>
            </a:avLst>
          </a:prstGeom>
          <a:solidFill>
            <a:srgbClr val="EAF2F3"/>
          </a:solidFill>
          <a:ln/>
        </p:spPr>
      </p:sp>
      <p:sp>
        <p:nvSpPr>
          <p:cNvPr id="20" name="Shape 15"/>
          <p:cNvSpPr/>
          <p:nvPr/>
        </p:nvSpPr>
        <p:spPr>
          <a:xfrm>
            <a:off x="731520" y="4297680"/>
            <a:ext cx="457200" cy="457200"/>
          </a:xfrm>
          <a:prstGeom prst="ellipse">
            <a:avLst/>
          </a:prstGeom>
          <a:solidFill>
            <a:srgbClr val="0B4F5C"/>
          </a:solidFill>
          <a:ln/>
        </p:spPr>
      </p:sp>
      <p:pic>
        <p:nvPicPr>
          <p:cNvPr id="21" name="Image 3" descr="preencoded.png">    </p:cNvPr>
          <p:cNvPicPr>
            <a:picLocks noChangeAspect="1"/>
          </p:cNvPicPr>
          <p:nvPr/>
        </p:nvPicPr>
        <p:blipFill>
          <a:blip r:embed="rId4"/>
          <a:stretch>
            <a:fillRect/>
          </a:stretch>
        </p:blipFill>
        <p:spPr>
          <a:xfrm>
            <a:off x="850392" y="4416552"/>
            <a:ext cx="219456" cy="219456"/>
          </a:xfrm>
          <a:prstGeom prst="rect">
            <a:avLst/>
          </a:prstGeom>
        </p:spPr>
      </p:pic>
      <p:sp>
        <p:nvSpPr>
          <p:cNvPr id="22" name="Text 16"/>
          <p:cNvSpPr txBox="1"/>
          <p:nvPr/>
        </p:nvSpPr>
        <p:spPr>
          <a:xfrm>
            <a:off x="731520" y="4864608"/>
            <a:ext cx="178308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News &amp; releases</a:t>
            </a:r>
            <a:endParaRPr lang="en-US" sz="1400" dirty="0"/>
          </a:p>
        </p:txBody>
      </p:sp>
      <p:sp>
        <p:nvSpPr>
          <p:cNvPr id="23" name="Text 17"/>
          <p:cNvSpPr txBox="1"/>
          <p:nvPr/>
        </p:nvSpPr>
        <p:spPr>
          <a:xfrm>
            <a:off x="731520" y="5212080"/>
            <a:ext cx="1783080" cy="8686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Announcements and delays. No reliability check, no timeline.</a:t>
            </a:r>
            <a:endParaRPr lang="en-US" sz="1200" dirty="0"/>
          </a:p>
        </p:txBody>
      </p:sp>
      <p:sp>
        <p:nvSpPr>
          <p:cNvPr id="24" name="Shape 18"/>
          <p:cNvSpPr/>
          <p:nvPr/>
        </p:nvSpPr>
        <p:spPr>
          <a:xfrm>
            <a:off x="2903220" y="4114800"/>
            <a:ext cx="2148840" cy="2057400"/>
          </a:xfrm>
          <a:prstGeom prst="roundRect">
            <a:avLst>
              <a:gd name="adj" fmla="val 4444"/>
            </a:avLst>
          </a:prstGeom>
          <a:solidFill>
            <a:srgbClr val="EAF2F3"/>
          </a:solidFill>
          <a:ln/>
        </p:spPr>
      </p:sp>
      <p:sp>
        <p:nvSpPr>
          <p:cNvPr id="25" name="Shape 19"/>
          <p:cNvSpPr/>
          <p:nvPr/>
        </p:nvSpPr>
        <p:spPr>
          <a:xfrm>
            <a:off x="3086100" y="4297680"/>
            <a:ext cx="457200" cy="457200"/>
          </a:xfrm>
          <a:prstGeom prst="ellipse">
            <a:avLst/>
          </a:prstGeom>
          <a:solidFill>
            <a:srgbClr val="0B4F5C"/>
          </a:solidFill>
          <a:ln/>
        </p:spPr>
      </p:sp>
      <p:pic>
        <p:nvPicPr>
          <p:cNvPr id="26" name="Image 4" descr="preencoded.png">    </p:cNvPr>
          <p:cNvPicPr>
            <a:picLocks noChangeAspect="1"/>
          </p:cNvPicPr>
          <p:nvPr/>
        </p:nvPicPr>
        <p:blipFill>
          <a:blip r:embed="rId5"/>
          <a:stretch>
            <a:fillRect/>
          </a:stretch>
        </p:blipFill>
        <p:spPr>
          <a:xfrm>
            <a:off x="3204972" y="4416552"/>
            <a:ext cx="219456" cy="219456"/>
          </a:xfrm>
          <a:prstGeom prst="rect">
            <a:avLst/>
          </a:prstGeom>
        </p:spPr>
      </p:pic>
      <p:sp>
        <p:nvSpPr>
          <p:cNvPr id="27" name="Text 20"/>
          <p:cNvSpPr txBox="1"/>
          <p:nvPr/>
        </p:nvSpPr>
        <p:spPr>
          <a:xfrm>
            <a:off x="3086100" y="4864608"/>
            <a:ext cx="178308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Grievance portals</a:t>
            </a:r>
            <a:endParaRPr lang="en-US" sz="1400" dirty="0"/>
          </a:p>
        </p:txBody>
      </p:sp>
      <p:sp>
        <p:nvSpPr>
          <p:cNvPr id="28" name="Text 21"/>
          <p:cNvSpPr txBox="1"/>
          <p:nvPr/>
        </p:nvSpPr>
        <p:spPr>
          <a:xfrm>
            <a:off x="3086100" y="5212080"/>
            <a:ext cx="1783080" cy="8686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Single complaints. Never added up into demand.</a:t>
            </a:r>
            <a:endParaRPr lang="en-US" sz="1200" dirty="0"/>
          </a:p>
        </p:txBody>
      </p:sp>
      <p:sp>
        <p:nvSpPr>
          <p:cNvPr id="29" name="Shape 22"/>
          <p:cNvSpPr/>
          <p:nvPr/>
        </p:nvSpPr>
        <p:spPr>
          <a:xfrm>
            <a:off x="5257800" y="4114800"/>
            <a:ext cx="2148840" cy="2057400"/>
          </a:xfrm>
          <a:prstGeom prst="roundRect">
            <a:avLst>
              <a:gd name="adj" fmla="val 4444"/>
            </a:avLst>
          </a:prstGeom>
          <a:solidFill>
            <a:srgbClr val="EAF2F3"/>
          </a:solidFill>
          <a:ln/>
        </p:spPr>
      </p:sp>
      <p:sp>
        <p:nvSpPr>
          <p:cNvPr id="30" name="Shape 23"/>
          <p:cNvSpPr/>
          <p:nvPr/>
        </p:nvSpPr>
        <p:spPr>
          <a:xfrm>
            <a:off x="5440680" y="4297680"/>
            <a:ext cx="457200" cy="457200"/>
          </a:xfrm>
          <a:prstGeom prst="ellipse">
            <a:avLst/>
          </a:prstGeom>
          <a:solidFill>
            <a:srgbClr val="0B4F5C"/>
          </a:solidFill>
          <a:ln/>
        </p:spPr>
      </p:sp>
      <p:pic>
        <p:nvPicPr>
          <p:cNvPr id="31" name="Image 5" descr="preencoded.png">    </p:cNvPr>
          <p:cNvPicPr>
            <a:picLocks noChangeAspect="1"/>
          </p:cNvPicPr>
          <p:nvPr/>
        </p:nvPicPr>
        <p:blipFill>
          <a:blip r:embed="rId6"/>
          <a:stretch>
            <a:fillRect/>
          </a:stretch>
        </p:blipFill>
        <p:spPr>
          <a:xfrm>
            <a:off x="5559552" y="4416552"/>
            <a:ext cx="219456" cy="219456"/>
          </a:xfrm>
          <a:prstGeom prst="rect">
            <a:avLst/>
          </a:prstGeom>
        </p:spPr>
      </p:pic>
      <p:sp>
        <p:nvSpPr>
          <p:cNvPr id="32" name="Text 24"/>
          <p:cNvSpPr txBox="1"/>
          <p:nvPr/>
        </p:nvSpPr>
        <p:spPr>
          <a:xfrm>
            <a:off x="5440680" y="4864608"/>
            <a:ext cx="178308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Census &amp; satellite</a:t>
            </a:r>
            <a:endParaRPr lang="en-US" sz="1400" dirty="0"/>
          </a:p>
        </p:txBody>
      </p:sp>
      <p:sp>
        <p:nvSpPr>
          <p:cNvPr id="33" name="Text 25"/>
          <p:cNvSpPr txBox="1"/>
          <p:nvPr/>
        </p:nvSpPr>
        <p:spPr>
          <a:xfrm>
            <a:off x="5440680" y="5212080"/>
            <a:ext cx="1783080" cy="8686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Who lives where. Not linked to any of the above.</a:t>
            </a:r>
            <a:endParaRPr lang="en-US" sz="1200" dirty="0"/>
          </a:p>
        </p:txBody>
      </p:sp>
      <p:sp>
        <p:nvSpPr>
          <p:cNvPr id="34" name="Shape 26"/>
          <p:cNvSpPr/>
          <p:nvPr/>
        </p:nvSpPr>
        <p:spPr>
          <a:xfrm>
            <a:off x="7818120" y="1874520"/>
            <a:ext cx="3822192" cy="4297680"/>
          </a:xfrm>
          <a:prstGeom prst="roundRect">
            <a:avLst>
              <a:gd name="adj" fmla="val 2871"/>
            </a:avLst>
          </a:prstGeom>
          <a:solidFill>
            <a:srgbClr val="072C34"/>
          </a:solidFill>
          <a:ln/>
        </p:spPr>
      </p:sp>
      <p:sp>
        <p:nvSpPr>
          <p:cNvPr id="35" name="Text 27"/>
          <p:cNvSpPr txBox="1"/>
          <p:nvPr/>
        </p:nvSpPr>
        <p:spPr>
          <a:xfrm>
            <a:off x="8046720" y="2011680"/>
            <a:ext cx="3383280" cy="365760"/>
          </a:xfrm>
          <a:prstGeom prst="rect">
            <a:avLst/>
          </a:prstGeom>
          <a:noFill/>
          <a:ln/>
        </p:spPr>
        <p:txBody>
          <a:bodyPr wrap="square" lIns="0" tIns="0" rIns="0" bIns="0" rtlCol="0" anchor="ctr"/>
          <a:lstStyle/>
          <a:p>
            <a:pPr indent="0" marL="0">
              <a:buNone/>
            </a:pPr>
            <a:r>
              <a:rPr lang="en-US" sz="1200" b="1" dirty="0">
                <a:solidFill>
                  <a:srgbClr val="E08A1E"/>
                </a:solidFill>
                <a:latin typeface="Calibri" pitchFamily="34" charset="0"/>
                <a:ea typeface="Calibri" pitchFamily="34" charset="-122"/>
                <a:cs typeface="Calibri" pitchFamily="34" charset="-120"/>
              </a:rPr>
              <a:t>What the gaps cost — national highways</a:t>
            </a:r>
            <a:endParaRPr lang="en-US" sz="1200" dirty="0"/>
          </a:p>
        </p:txBody>
      </p:sp>
      <p:sp>
        <p:nvSpPr>
          <p:cNvPr id="36" name="Text 28"/>
          <p:cNvSpPr txBox="1"/>
          <p:nvPr/>
        </p:nvSpPr>
        <p:spPr>
          <a:xfrm>
            <a:off x="8046720" y="2468880"/>
            <a:ext cx="33832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73%</a:t>
            </a:r>
            <a:endParaRPr lang="en-US" sz="3400" dirty="0"/>
          </a:p>
        </p:txBody>
      </p:sp>
      <p:sp>
        <p:nvSpPr>
          <p:cNvPr id="37" name="Text 29"/>
          <p:cNvSpPr txBox="1"/>
          <p:nvPr/>
        </p:nvSpPr>
        <p:spPr>
          <a:xfrm>
            <a:off x="8046720" y="3017520"/>
            <a:ext cx="3383280" cy="594360"/>
          </a:xfrm>
          <a:prstGeom prst="rect">
            <a:avLst/>
          </a:prstGeom>
          <a:noFill/>
          <a:ln/>
        </p:spPr>
        <p:txBody>
          <a:bodyPr wrap="square" lIns="0" tIns="0" rIns="0" bIns="0" rtlCol="0" anchor="t"/>
          <a:lstStyle/>
          <a:p>
            <a:pPr indent="0" marL="0">
              <a:buNone/>
            </a:pPr>
            <a:r>
              <a:rPr lang="en-US" sz="1200" dirty="0">
                <a:solidFill>
                  <a:srgbClr val="CFE3E6"/>
                </a:solidFill>
                <a:latin typeface="Calibri" pitchFamily="34" charset="0"/>
                <a:ea typeface="Calibri" pitchFamily="34" charset="-122"/>
                <a:cs typeface="Calibri" pitchFamily="34" charset="-120"/>
              </a:rPr>
              <a:t>of NH length is two lanes or fewer</a:t>
            </a:r>
            <a:endParaRPr lang="en-US" sz="1200" dirty="0"/>
          </a:p>
        </p:txBody>
      </p:sp>
      <p:sp>
        <p:nvSpPr>
          <p:cNvPr id="38" name="Text 30"/>
          <p:cNvSpPr txBox="1"/>
          <p:nvPr/>
        </p:nvSpPr>
        <p:spPr>
          <a:xfrm>
            <a:off x="8046720" y="3703320"/>
            <a:ext cx="33832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68%</a:t>
            </a:r>
            <a:endParaRPr lang="en-US" sz="3400" dirty="0"/>
          </a:p>
        </p:txBody>
      </p:sp>
      <p:sp>
        <p:nvSpPr>
          <p:cNvPr id="39" name="Text 31"/>
          <p:cNvSpPr txBox="1"/>
          <p:nvPr/>
        </p:nvSpPr>
        <p:spPr>
          <a:xfrm>
            <a:off x="8046720" y="4251960"/>
            <a:ext cx="3383280" cy="594360"/>
          </a:xfrm>
          <a:prstGeom prst="rect">
            <a:avLst/>
          </a:prstGeom>
          <a:noFill/>
          <a:ln/>
        </p:spPr>
        <p:txBody>
          <a:bodyPr wrap="square" lIns="0" tIns="0" rIns="0" bIns="0" rtlCol="0" anchor="t"/>
          <a:lstStyle/>
          <a:p>
            <a:pPr indent="0" marL="0">
              <a:buNone/>
            </a:pPr>
            <a:r>
              <a:rPr lang="en-US" sz="1200" dirty="0">
                <a:solidFill>
                  <a:srgbClr val="CFE3E6"/>
                </a:solidFill>
                <a:latin typeface="Calibri" pitchFamily="34" charset="0"/>
                <a:ea typeface="Calibri" pitchFamily="34" charset="-122"/>
                <a:cs typeface="Calibri" pitchFamily="34" charset="-120"/>
              </a:rPr>
              <a:t>of NHAI projects under construction are past schedule — median 19 months late</a:t>
            </a:r>
            <a:endParaRPr lang="en-US" sz="1200" dirty="0"/>
          </a:p>
        </p:txBody>
      </p:sp>
      <p:sp>
        <p:nvSpPr>
          <p:cNvPr id="40" name="Text 32"/>
          <p:cNvSpPr txBox="1"/>
          <p:nvPr/>
        </p:nvSpPr>
        <p:spPr>
          <a:xfrm>
            <a:off x="8046720" y="4937760"/>
            <a:ext cx="33832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64,772</a:t>
            </a:r>
            <a:endParaRPr lang="en-US" sz="3400" dirty="0"/>
          </a:p>
        </p:txBody>
      </p:sp>
      <p:sp>
        <p:nvSpPr>
          <p:cNvPr id="41" name="Text 33"/>
          <p:cNvSpPr txBox="1"/>
          <p:nvPr/>
        </p:nvSpPr>
        <p:spPr>
          <a:xfrm>
            <a:off x="8046720" y="5486400"/>
            <a:ext cx="3383280" cy="594360"/>
          </a:xfrm>
          <a:prstGeom prst="rect">
            <a:avLst/>
          </a:prstGeom>
          <a:noFill/>
          <a:ln/>
        </p:spPr>
        <p:txBody>
          <a:bodyPr wrap="square" lIns="0" tIns="0" rIns="0" bIns="0" rtlCol="0" anchor="t"/>
          <a:lstStyle/>
          <a:p>
            <a:pPr indent="0" marL="0">
              <a:buNone/>
            </a:pPr>
            <a:r>
              <a:rPr lang="en-US" sz="1200" dirty="0">
                <a:solidFill>
                  <a:srgbClr val="CFE3E6"/>
                </a:solidFill>
                <a:latin typeface="Calibri" pitchFamily="34" charset="0"/>
                <a:ea typeface="Calibri" pitchFamily="34" charset="-122"/>
                <a:cs typeface="Calibri" pitchFamily="34" charset="-120"/>
              </a:rPr>
              <a:t>deaths on national highways in 2024, rising every year since 2020</a:t>
            </a:r>
            <a:endParaRPr lang="en-US" sz="1200" dirty="0"/>
          </a:p>
        </p:txBody>
      </p:sp>
      <p:sp>
        <p:nvSpPr>
          <p:cNvPr id="42" name="Text 34"/>
          <p:cNvSpPr txBox="1"/>
          <p:nvPr/>
        </p:nvSpPr>
        <p:spPr>
          <a:xfrm>
            <a:off x="548640" y="6263640"/>
            <a:ext cx="100584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Sources: NHAI Datalake layer, MoRTH Road Accidents in India 2024; INFRA-AI analysis as of 2026-09-29.</a:t>
            </a:r>
            <a:endParaRPr lang="en-US" sz="1000" dirty="0"/>
          </a:p>
        </p:txBody>
      </p:sp>
      <p:sp>
        <p:nvSpPr>
          <p:cNvPr id="43" name="Text 3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INFRA-AI  ·  Digital Public Good</a:t>
            </a:r>
            <a:endParaRPr lang="en-US" sz="1000" dirty="0"/>
          </a:p>
        </p:txBody>
      </p:sp>
      <p:sp>
        <p:nvSpPr>
          <p:cNvPr id="44" name="Text 36"/>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rgbClr val="14232B"/>
                </a:solidFill>
                <a:latin typeface="Cambria" pitchFamily="34" charset="0"/>
                <a:ea typeface="Cambria" pitchFamily="34" charset="-122"/>
                <a:cs typeface="Cambria" pitchFamily="34" charset="-120"/>
              </a:rPr>
              <a:t>One pin answers five questions</a:t>
            </a:r>
            <a:endParaRPr lang="en-US" sz="3400" dirty="0"/>
          </a:p>
        </p:txBody>
      </p:sp>
      <p:sp>
        <p:nvSpPr>
          <p:cNvPr id="3" name="Text 1"/>
          <p:cNvSpPr txBox="1"/>
          <p:nvPr/>
        </p:nvSpPr>
        <p:spPr>
          <a:xfrm>
            <a:off x="548640" y="1115568"/>
            <a:ext cx="11064240" cy="365760"/>
          </a:xfrm>
          <a:prstGeom prst="rect">
            <a:avLst/>
          </a:prstGeom>
          <a:noFill/>
          <a:ln/>
        </p:spPr>
        <p:txBody>
          <a:bodyPr wrap="square" lIns="0" tIns="0" rIns="0" bIns="0" rtlCol="0" anchor="ctr"/>
          <a:lstStyle/>
          <a:p>
            <a:pPr indent="0" marL="0">
              <a:buNone/>
            </a:pPr>
            <a:r>
              <a:rPr lang="en-US" sz="1500" dirty="0">
                <a:solidFill>
                  <a:srgbClr val="5B6B72"/>
                </a:solidFill>
                <a:latin typeface="Calibri" pitchFamily="34" charset="0"/>
                <a:ea typeface="Calibri" pitchFamily="34" charset="-122"/>
                <a:cs typeface="Calibri" pitchFamily="34" charset="-120"/>
              </a:rPr>
              <a:t>Join every dataset by place and time — then let people in any language ask, and policymakers act.</a:t>
            </a:r>
            <a:endParaRPr lang="en-US" sz="1500" dirty="0"/>
          </a:p>
        </p:txBody>
      </p:sp>
      <p:sp>
        <p:nvSpPr>
          <p:cNvPr id="4" name="Shape 2"/>
          <p:cNvSpPr/>
          <p:nvPr/>
        </p:nvSpPr>
        <p:spPr>
          <a:xfrm>
            <a:off x="548640" y="1783080"/>
            <a:ext cx="2057400" cy="2057400"/>
          </a:xfrm>
          <a:prstGeom prst="roundRect">
            <a:avLst>
              <a:gd name="adj" fmla="val 4444"/>
            </a:avLst>
          </a:prstGeom>
          <a:solidFill>
            <a:srgbClr val="EAF2F3"/>
          </a:solidFill>
          <a:ln/>
        </p:spPr>
      </p:sp>
      <p:sp>
        <p:nvSpPr>
          <p:cNvPr id="5" name="Shape 3"/>
          <p:cNvSpPr/>
          <p:nvPr/>
        </p:nvSpPr>
        <p:spPr>
          <a:xfrm>
            <a:off x="731520" y="1965960"/>
            <a:ext cx="457200" cy="457200"/>
          </a:xfrm>
          <a:prstGeom prst="ellipse">
            <a:avLst/>
          </a:prstGeom>
          <a:solidFill>
            <a:srgbClr val="E08A1E"/>
          </a:solidFill>
          <a:ln/>
        </p:spPr>
      </p:sp>
      <p:sp>
        <p:nvSpPr>
          <p:cNvPr id="6" name="Text 4"/>
          <p:cNvSpPr txBox="1"/>
          <p:nvPr/>
        </p:nvSpPr>
        <p:spPr>
          <a:xfrm>
            <a:off x="73152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31520" y="2560320"/>
            <a:ext cx="1737360" cy="36576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What's here?</a:t>
            </a:r>
            <a:endParaRPr lang="en-US" sz="1400" dirty="0"/>
          </a:p>
        </p:txBody>
      </p:sp>
      <p:sp>
        <p:nvSpPr>
          <p:cNvPr id="8" name="Text 6"/>
          <p:cNvSpPr txBox="1"/>
          <p:nvPr/>
        </p:nvSpPr>
        <p:spPr>
          <a:xfrm>
            <a:off x="731520" y="2944368"/>
            <a:ext cx="1737360" cy="82296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Roads, metro, rail, hospitals, schools — public and private.</a:t>
            </a:r>
            <a:endParaRPr lang="en-US" sz="1200" dirty="0"/>
          </a:p>
        </p:txBody>
      </p:sp>
      <p:sp>
        <p:nvSpPr>
          <p:cNvPr id="9" name="Shape 7"/>
          <p:cNvSpPr/>
          <p:nvPr/>
        </p:nvSpPr>
        <p:spPr>
          <a:xfrm>
            <a:off x="2807208" y="1783080"/>
            <a:ext cx="2057400" cy="2057400"/>
          </a:xfrm>
          <a:prstGeom prst="roundRect">
            <a:avLst>
              <a:gd name="adj" fmla="val 4444"/>
            </a:avLst>
          </a:prstGeom>
          <a:solidFill>
            <a:srgbClr val="EAF2F3"/>
          </a:solidFill>
          <a:ln/>
        </p:spPr>
      </p:sp>
      <p:sp>
        <p:nvSpPr>
          <p:cNvPr id="10" name="Shape 8"/>
          <p:cNvSpPr/>
          <p:nvPr/>
        </p:nvSpPr>
        <p:spPr>
          <a:xfrm>
            <a:off x="2990088" y="1965960"/>
            <a:ext cx="457200" cy="457200"/>
          </a:xfrm>
          <a:prstGeom prst="ellipse">
            <a:avLst/>
          </a:prstGeom>
          <a:solidFill>
            <a:srgbClr val="E08A1E"/>
          </a:solidFill>
          <a:ln/>
        </p:spPr>
      </p:sp>
      <p:sp>
        <p:nvSpPr>
          <p:cNvPr id="11" name="Text 9"/>
          <p:cNvSpPr txBox="1"/>
          <p:nvPr/>
        </p:nvSpPr>
        <p:spPr>
          <a:xfrm>
            <a:off x="2990088"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2990088" y="2560320"/>
            <a:ext cx="1737360" cy="36576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What changed?</a:t>
            </a:r>
            <a:endParaRPr lang="en-US" sz="1400" dirty="0"/>
          </a:p>
        </p:txBody>
      </p:sp>
      <p:sp>
        <p:nvSpPr>
          <p:cNvPr id="13" name="Text 11"/>
          <p:cNvSpPr txBox="1"/>
          <p:nvPr/>
        </p:nvSpPr>
        <p:spPr>
          <a:xfrm>
            <a:off x="2990088" y="2944368"/>
            <a:ext cx="1737360" cy="82296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20+ years of built-up and night-light growth.</a:t>
            </a:r>
            <a:endParaRPr lang="en-US" sz="1200" dirty="0"/>
          </a:p>
        </p:txBody>
      </p:sp>
      <p:sp>
        <p:nvSpPr>
          <p:cNvPr id="14" name="Shape 12"/>
          <p:cNvSpPr/>
          <p:nvPr/>
        </p:nvSpPr>
        <p:spPr>
          <a:xfrm>
            <a:off x="5065776" y="1783080"/>
            <a:ext cx="2057400" cy="2057400"/>
          </a:xfrm>
          <a:prstGeom prst="roundRect">
            <a:avLst>
              <a:gd name="adj" fmla="val 4444"/>
            </a:avLst>
          </a:prstGeom>
          <a:solidFill>
            <a:srgbClr val="EAF2F3"/>
          </a:solidFill>
          <a:ln/>
        </p:spPr>
      </p:sp>
      <p:sp>
        <p:nvSpPr>
          <p:cNvPr id="15" name="Shape 13"/>
          <p:cNvSpPr/>
          <p:nvPr/>
        </p:nvSpPr>
        <p:spPr>
          <a:xfrm>
            <a:off x="5248656" y="1965960"/>
            <a:ext cx="457200" cy="457200"/>
          </a:xfrm>
          <a:prstGeom prst="ellipse">
            <a:avLst/>
          </a:prstGeom>
          <a:solidFill>
            <a:srgbClr val="E08A1E"/>
          </a:solidFill>
          <a:ln/>
        </p:spPr>
      </p:sp>
      <p:sp>
        <p:nvSpPr>
          <p:cNvPr id="16" name="Text 14"/>
          <p:cNvSpPr txBox="1"/>
          <p:nvPr/>
        </p:nvSpPr>
        <p:spPr>
          <a:xfrm>
            <a:off x="5248656"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5248656" y="2560320"/>
            <a:ext cx="1737360" cy="36576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What's coming?</a:t>
            </a:r>
            <a:endParaRPr lang="en-US" sz="1400" dirty="0"/>
          </a:p>
        </p:txBody>
      </p:sp>
      <p:sp>
        <p:nvSpPr>
          <p:cNvPr id="18" name="Text 16"/>
          <p:cNvSpPr txBox="1"/>
          <p:nvPr/>
        </p:nvSpPr>
        <p:spPr>
          <a:xfrm>
            <a:off x="5248656" y="2944368"/>
            <a:ext cx="1737360" cy="82296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Under construction, approved, announced — cited, with confidence.</a:t>
            </a:r>
            <a:endParaRPr lang="en-US" sz="1200" dirty="0"/>
          </a:p>
        </p:txBody>
      </p:sp>
      <p:sp>
        <p:nvSpPr>
          <p:cNvPr id="19" name="Shape 17"/>
          <p:cNvSpPr/>
          <p:nvPr/>
        </p:nvSpPr>
        <p:spPr>
          <a:xfrm>
            <a:off x="7324344" y="1783080"/>
            <a:ext cx="2057400" cy="2057400"/>
          </a:xfrm>
          <a:prstGeom prst="roundRect">
            <a:avLst>
              <a:gd name="adj" fmla="val 4444"/>
            </a:avLst>
          </a:prstGeom>
          <a:solidFill>
            <a:srgbClr val="EAF2F3"/>
          </a:solidFill>
          <a:ln/>
        </p:spPr>
      </p:sp>
      <p:sp>
        <p:nvSpPr>
          <p:cNvPr id="20" name="Shape 18"/>
          <p:cNvSpPr/>
          <p:nvPr/>
        </p:nvSpPr>
        <p:spPr>
          <a:xfrm>
            <a:off x="7507224" y="1965960"/>
            <a:ext cx="457200" cy="457200"/>
          </a:xfrm>
          <a:prstGeom prst="ellipse">
            <a:avLst/>
          </a:prstGeom>
          <a:solidFill>
            <a:srgbClr val="E08A1E"/>
          </a:solidFill>
          <a:ln/>
        </p:spPr>
      </p:sp>
      <p:sp>
        <p:nvSpPr>
          <p:cNvPr id="21" name="Text 19"/>
          <p:cNvSpPr txBox="1"/>
          <p:nvPr/>
        </p:nvSpPr>
        <p:spPr>
          <a:xfrm>
            <a:off x="7507224"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7507224" y="2560320"/>
            <a:ext cx="1737360" cy="36576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What people need?</a:t>
            </a:r>
            <a:endParaRPr lang="en-US" sz="1400" dirty="0"/>
          </a:p>
        </p:txBody>
      </p:sp>
      <p:sp>
        <p:nvSpPr>
          <p:cNvPr id="23" name="Text 21"/>
          <p:cNvSpPr txBox="1"/>
          <p:nvPr/>
        </p:nvSpPr>
        <p:spPr>
          <a:xfrm>
            <a:off x="7507224" y="2944368"/>
            <a:ext cx="1737360" cy="82296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Requests by voice or text, deduplicated into issues.</a:t>
            </a:r>
            <a:endParaRPr lang="en-US" sz="1200" dirty="0"/>
          </a:p>
        </p:txBody>
      </p:sp>
      <p:sp>
        <p:nvSpPr>
          <p:cNvPr id="24" name="Shape 22"/>
          <p:cNvSpPr/>
          <p:nvPr/>
        </p:nvSpPr>
        <p:spPr>
          <a:xfrm>
            <a:off x="9582912" y="1783080"/>
            <a:ext cx="2057400" cy="2057400"/>
          </a:xfrm>
          <a:prstGeom prst="roundRect">
            <a:avLst>
              <a:gd name="adj" fmla="val 4444"/>
            </a:avLst>
          </a:prstGeom>
          <a:solidFill>
            <a:srgbClr val="EAF2F3"/>
          </a:solidFill>
          <a:ln/>
        </p:spPr>
      </p:sp>
      <p:sp>
        <p:nvSpPr>
          <p:cNvPr id="25" name="Shape 23"/>
          <p:cNvSpPr/>
          <p:nvPr/>
        </p:nvSpPr>
        <p:spPr>
          <a:xfrm>
            <a:off x="9765792" y="1965960"/>
            <a:ext cx="457200" cy="457200"/>
          </a:xfrm>
          <a:prstGeom prst="ellipse">
            <a:avLst/>
          </a:prstGeom>
          <a:solidFill>
            <a:srgbClr val="E08A1E"/>
          </a:solidFill>
          <a:ln/>
        </p:spPr>
      </p:sp>
      <p:sp>
        <p:nvSpPr>
          <p:cNvPr id="26" name="Text 24"/>
          <p:cNvSpPr txBox="1"/>
          <p:nvPr/>
        </p:nvSpPr>
        <p:spPr>
          <a:xfrm>
            <a:off x="9765792"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txBox="1"/>
          <p:nvPr/>
        </p:nvSpPr>
        <p:spPr>
          <a:xfrm>
            <a:off x="9765792" y="2560320"/>
            <a:ext cx="1737360" cy="36576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So what?</a:t>
            </a:r>
            <a:endParaRPr lang="en-US" sz="1400" dirty="0"/>
          </a:p>
        </p:txBody>
      </p:sp>
      <p:sp>
        <p:nvSpPr>
          <p:cNvPr id="28" name="Text 26"/>
          <p:cNvSpPr txBox="1"/>
          <p:nvPr/>
        </p:nvSpPr>
        <p:spPr>
          <a:xfrm>
            <a:off x="9765792" y="2944368"/>
            <a:ext cx="1737360" cy="82296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Gaps, ranked priorities and a growth outlook.</a:t>
            </a:r>
            <a:endParaRPr lang="en-US" sz="1200" dirty="0"/>
          </a:p>
        </p:txBody>
      </p:sp>
      <p:sp>
        <p:nvSpPr>
          <p:cNvPr id="29" name="Text 27"/>
          <p:cNvSpPr txBox="1"/>
          <p:nvPr/>
        </p:nvSpPr>
        <p:spPr>
          <a:xfrm>
            <a:off x="548640" y="4206240"/>
            <a:ext cx="3657600" cy="274320"/>
          </a:xfrm>
          <a:prstGeom prst="rect">
            <a:avLst/>
          </a:prstGeom>
          <a:noFill/>
          <a:ln/>
        </p:spPr>
        <p:txBody>
          <a:bodyPr wrap="square" lIns="0" tIns="0" rIns="0" bIns="0" rtlCol="0" anchor="ctr"/>
          <a:lstStyle/>
          <a:p>
            <a:pPr indent="0" marL="0">
              <a:buNone/>
            </a:pPr>
            <a:r>
              <a:rPr lang="en-US" sz="1200" b="1" spc="300" kern="0" dirty="0">
                <a:solidFill>
                  <a:srgbClr val="0B4F5C"/>
                </a:solidFill>
                <a:latin typeface="Calibri" pitchFamily="34" charset="0"/>
                <a:ea typeface="Calibri" pitchFamily="34" charset="-122"/>
                <a:cs typeface="Calibri" pitchFamily="34" charset="-120"/>
              </a:rPr>
              <a:t>HOW IT WORKS</a:t>
            </a:r>
            <a:endParaRPr lang="en-US" sz="1200" dirty="0"/>
          </a:p>
        </p:txBody>
      </p:sp>
      <p:sp>
        <p:nvSpPr>
          <p:cNvPr id="30" name="Shape 28"/>
          <p:cNvSpPr/>
          <p:nvPr/>
        </p:nvSpPr>
        <p:spPr>
          <a:xfrm>
            <a:off x="548640" y="4572000"/>
            <a:ext cx="1998878" cy="1600200"/>
          </a:xfrm>
          <a:prstGeom prst="roundRect">
            <a:avLst>
              <a:gd name="adj" fmla="val 5714"/>
            </a:avLst>
          </a:prstGeom>
          <a:solidFill>
            <a:srgbClr val="0B4F5C"/>
          </a:solidFill>
          <a:ln/>
        </p:spPr>
      </p:sp>
      <p:sp>
        <p:nvSpPr>
          <p:cNvPr id="31" name="Text 29"/>
          <p:cNvSpPr txBox="1"/>
          <p:nvPr/>
        </p:nvSpPr>
        <p:spPr>
          <a:xfrm>
            <a:off x="685800" y="4681728"/>
            <a:ext cx="172455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Open sources</a:t>
            </a:r>
            <a:endParaRPr lang="en-US" sz="1300" dirty="0"/>
          </a:p>
        </p:txBody>
      </p:sp>
      <p:sp>
        <p:nvSpPr>
          <p:cNvPr id="32" name="Text 30"/>
          <p:cNvSpPr txBox="1"/>
          <p:nvPr/>
        </p:nvSpPr>
        <p:spPr>
          <a:xfrm>
            <a:off x="685800" y="5074920"/>
            <a:ext cx="1724558" cy="1005840"/>
          </a:xfrm>
          <a:prstGeom prst="rect">
            <a:avLst/>
          </a:prstGeom>
          <a:noFill/>
          <a:ln/>
        </p:spPr>
        <p:txBody>
          <a:bodyPr wrap="square" lIns="0" tIns="0" rIns="0" bIns="0" rtlCol="0" anchor="t"/>
          <a:lstStyle/>
          <a:p>
            <a:pPr indent="0" marL="0">
              <a:buNone/>
            </a:pPr>
            <a:r>
              <a:rPr lang="en-US" sz="1200" dirty="0">
                <a:solidFill>
                  <a:srgbClr val="D6EAEC"/>
                </a:solidFill>
                <a:latin typeface="Calibri" pitchFamily="34" charset="0"/>
                <a:ea typeface="Calibri" pitchFamily="34" charset="-122"/>
                <a:cs typeface="Calibri" pitchFamily="34" charset="-120"/>
              </a:rPr>
              <a:t>OSM, MoRTH, PIB, WorldPop, GHSL, tenders, news</a:t>
            </a:r>
            <a:endParaRPr lang="en-US" sz="1200" dirty="0"/>
          </a:p>
        </p:txBody>
      </p:sp>
      <p:sp>
        <p:nvSpPr>
          <p:cNvPr id="33" name="Text 31"/>
          <p:cNvSpPr txBox="1"/>
          <p:nvPr/>
        </p:nvSpPr>
        <p:spPr>
          <a:xfrm>
            <a:off x="2547518" y="5074920"/>
            <a:ext cx="274320" cy="457200"/>
          </a:xfrm>
          <a:prstGeom prst="rect">
            <a:avLst/>
          </a:prstGeom>
          <a:noFill/>
          <a:ln/>
        </p:spPr>
        <p:txBody>
          <a:bodyPr wrap="square" lIns="0" tIns="0" rIns="0" bIns="0" rtlCol="0" anchor="ctr"/>
          <a:lstStyle/>
          <a:p>
            <a:pPr algn="ctr" indent="0" marL="0">
              <a:buNone/>
            </a:pPr>
            <a:r>
              <a:rPr lang="en-US" sz="2600" b="1" dirty="0">
                <a:solidFill>
                  <a:srgbClr val="0B4F5C"/>
                </a:solidFill>
                <a:latin typeface="Calibri" pitchFamily="34" charset="0"/>
                <a:ea typeface="Calibri" pitchFamily="34" charset="-122"/>
                <a:cs typeface="Calibri" pitchFamily="34" charset="-120"/>
              </a:rPr>
              <a:t>›</a:t>
            </a:r>
            <a:endParaRPr lang="en-US" sz="2600" dirty="0"/>
          </a:p>
        </p:txBody>
      </p:sp>
      <p:sp>
        <p:nvSpPr>
          <p:cNvPr id="34" name="Shape 32"/>
          <p:cNvSpPr/>
          <p:nvPr/>
        </p:nvSpPr>
        <p:spPr>
          <a:xfrm>
            <a:off x="2821838" y="4572000"/>
            <a:ext cx="1998878" cy="1600200"/>
          </a:xfrm>
          <a:prstGeom prst="roundRect">
            <a:avLst>
              <a:gd name="adj" fmla="val 5714"/>
            </a:avLst>
          </a:prstGeom>
          <a:solidFill>
            <a:srgbClr val="0B4F5C"/>
          </a:solidFill>
          <a:ln/>
        </p:spPr>
      </p:sp>
      <p:sp>
        <p:nvSpPr>
          <p:cNvPr id="35" name="Text 33"/>
          <p:cNvSpPr txBox="1"/>
          <p:nvPr/>
        </p:nvSpPr>
        <p:spPr>
          <a:xfrm>
            <a:off x="2958998" y="4681728"/>
            <a:ext cx="172455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H3 grid</a:t>
            </a:r>
            <a:endParaRPr lang="en-US" sz="1300" dirty="0"/>
          </a:p>
        </p:txBody>
      </p:sp>
      <p:sp>
        <p:nvSpPr>
          <p:cNvPr id="36" name="Text 34"/>
          <p:cNvSpPr txBox="1"/>
          <p:nvPr/>
        </p:nvSpPr>
        <p:spPr>
          <a:xfrm>
            <a:off x="2958998" y="5074920"/>
            <a:ext cx="1724558" cy="1005840"/>
          </a:xfrm>
          <a:prstGeom prst="rect">
            <a:avLst/>
          </a:prstGeom>
          <a:noFill/>
          <a:ln/>
        </p:spPr>
        <p:txBody>
          <a:bodyPr wrap="square" lIns="0" tIns="0" rIns="0" bIns="0" rtlCol="0" anchor="t"/>
          <a:lstStyle/>
          <a:p>
            <a:pPr indent="0" marL="0">
              <a:buNone/>
            </a:pPr>
            <a:r>
              <a:rPr lang="en-US" sz="1200" dirty="0">
                <a:solidFill>
                  <a:srgbClr val="D6EAEC"/>
                </a:solidFill>
                <a:latin typeface="Calibri" pitchFamily="34" charset="0"/>
                <a:ea typeface="Calibri" pitchFamily="34" charset="-122"/>
                <a:cs typeface="Calibri" pitchFamily="34" charset="-120"/>
              </a:rPr>
              <a:t>Every record joined in Postgres / PostGIS</a:t>
            </a:r>
            <a:endParaRPr lang="en-US" sz="1200" dirty="0"/>
          </a:p>
        </p:txBody>
      </p:sp>
      <p:sp>
        <p:nvSpPr>
          <p:cNvPr id="37" name="Text 35"/>
          <p:cNvSpPr txBox="1"/>
          <p:nvPr/>
        </p:nvSpPr>
        <p:spPr>
          <a:xfrm>
            <a:off x="4820717" y="5074920"/>
            <a:ext cx="274320" cy="457200"/>
          </a:xfrm>
          <a:prstGeom prst="rect">
            <a:avLst/>
          </a:prstGeom>
          <a:noFill/>
          <a:ln/>
        </p:spPr>
        <p:txBody>
          <a:bodyPr wrap="square" lIns="0" tIns="0" rIns="0" bIns="0" rtlCol="0" anchor="ctr"/>
          <a:lstStyle/>
          <a:p>
            <a:pPr algn="ctr" indent="0" marL="0">
              <a:buNone/>
            </a:pPr>
            <a:r>
              <a:rPr lang="en-US" sz="2600" b="1" dirty="0">
                <a:solidFill>
                  <a:srgbClr val="0B4F5C"/>
                </a:solidFill>
                <a:latin typeface="Calibri" pitchFamily="34" charset="0"/>
                <a:ea typeface="Calibri" pitchFamily="34" charset="-122"/>
                <a:cs typeface="Calibri" pitchFamily="34" charset="-120"/>
              </a:rPr>
              <a:t>›</a:t>
            </a:r>
            <a:endParaRPr lang="en-US" sz="2600" dirty="0"/>
          </a:p>
        </p:txBody>
      </p:sp>
      <p:sp>
        <p:nvSpPr>
          <p:cNvPr id="38" name="Shape 36"/>
          <p:cNvSpPr/>
          <p:nvPr/>
        </p:nvSpPr>
        <p:spPr>
          <a:xfrm>
            <a:off x="5095037" y="4572000"/>
            <a:ext cx="1998878" cy="1600200"/>
          </a:xfrm>
          <a:prstGeom prst="roundRect">
            <a:avLst>
              <a:gd name="adj" fmla="val 5714"/>
            </a:avLst>
          </a:prstGeom>
          <a:solidFill>
            <a:srgbClr val="0B4F5C"/>
          </a:solidFill>
          <a:ln/>
        </p:spPr>
      </p:sp>
      <p:sp>
        <p:nvSpPr>
          <p:cNvPr id="39" name="Text 37"/>
          <p:cNvSpPr txBox="1"/>
          <p:nvPr/>
        </p:nvSpPr>
        <p:spPr>
          <a:xfrm>
            <a:off x="5232197" y="4681728"/>
            <a:ext cx="172455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Explainable scores</a:t>
            </a:r>
            <a:endParaRPr lang="en-US" sz="1300" dirty="0"/>
          </a:p>
        </p:txBody>
      </p:sp>
      <p:sp>
        <p:nvSpPr>
          <p:cNvPr id="40" name="Text 38"/>
          <p:cNvSpPr txBox="1"/>
          <p:nvPr/>
        </p:nvSpPr>
        <p:spPr>
          <a:xfrm>
            <a:off x="5232197" y="5074920"/>
            <a:ext cx="1724558" cy="1005840"/>
          </a:xfrm>
          <a:prstGeom prst="rect">
            <a:avLst/>
          </a:prstGeom>
          <a:noFill/>
          <a:ln/>
        </p:spPr>
        <p:txBody>
          <a:bodyPr wrap="square" lIns="0" tIns="0" rIns="0" bIns="0" rtlCol="0" anchor="t"/>
          <a:lstStyle/>
          <a:p>
            <a:pPr indent="0" marL="0">
              <a:buNone/>
            </a:pPr>
            <a:r>
              <a:rPr lang="en-US" sz="1200" dirty="0">
                <a:solidFill>
                  <a:srgbClr val="D6EAEC"/>
                </a:solidFill>
                <a:latin typeface="Calibri" pitchFamily="34" charset="0"/>
                <a:ea typeface="Calibri" pitchFamily="34" charset="-122"/>
                <a:cs typeface="Calibri" pitchFamily="34" charset="-120"/>
              </a:rPr>
              <a:t>Weighted sums of facts, drivers stored. No black box</a:t>
            </a:r>
            <a:endParaRPr lang="en-US" sz="1200" dirty="0"/>
          </a:p>
        </p:txBody>
      </p:sp>
      <p:sp>
        <p:nvSpPr>
          <p:cNvPr id="41" name="Text 39"/>
          <p:cNvSpPr txBox="1"/>
          <p:nvPr/>
        </p:nvSpPr>
        <p:spPr>
          <a:xfrm>
            <a:off x="7093915" y="5074920"/>
            <a:ext cx="274320" cy="457200"/>
          </a:xfrm>
          <a:prstGeom prst="rect">
            <a:avLst/>
          </a:prstGeom>
          <a:noFill/>
          <a:ln/>
        </p:spPr>
        <p:txBody>
          <a:bodyPr wrap="square" lIns="0" tIns="0" rIns="0" bIns="0" rtlCol="0" anchor="ctr"/>
          <a:lstStyle/>
          <a:p>
            <a:pPr algn="ctr" indent="0" marL="0">
              <a:buNone/>
            </a:pPr>
            <a:r>
              <a:rPr lang="en-US" sz="2600" b="1" dirty="0">
                <a:solidFill>
                  <a:srgbClr val="0B4F5C"/>
                </a:solidFill>
                <a:latin typeface="Calibri" pitchFamily="34" charset="0"/>
                <a:ea typeface="Calibri" pitchFamily="34" charset="-122"/>
                <a:cs typeface="Calibri" pitchFamily="34" charset="-120"/>
              </a:rPr>
              <a:t>›</a:t>
            </a:r>
            <a:endParaRPr lang="en-US" sz="2600" dirty="0"/>
          </a:p>
        </p:txBody>
      </p:sp>
      <p:sp>
        <p:nvSpPr>
          <p:cNvPr id="42" name="Shape 40"/>
          <p:cNvSpPr/>
          <p:nvPr/>
        </p:nvSpPr>
        <p:spPr>
          <a:xfrm>
            <a:off x="7368235" y="4572000"/>
            <a:ext cx="1998878" cy="1600200"/>
          </a:xfrm>
          <a:prstGeom prst="roundRect">
            <a:avLst>
              <a:gd name="adj" fmla="val 5714"/>
            </a:avLst>
          </a:prstGeom>
          <a:solidFill>
            <a:srgbClr val="0B4F5C"/>
          </a:solidFill>
          <a:ln/>
        </p:spPr>
      </p:sp>
      <p:sp>
        <p:nvSpPr>
          <p:cNvPr id="43" name="Text 41"/>
          <p:cNvSpPr txBox="1"/>
          <p:nvPr/>
        </p:nvSpPr>
        <p:spPr>
          <a:xfrm>
            <a:off x="7505395" y="4681728"/>
            <a:ext cx="172455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Cited AI briefs</a:t>
            </a:r>
            <a:endParaRPr lang="en-US" sz="1300" dirty="0"/>
          </a:p>
        </p:txBody>
      </p:sp>
      <p:sp>
        <p:nvSpPr>
          <p:cNvPr id="44" name="Text 42"/>
          <p:cNvSpPr txBox="1"/>
          <p:nvPr/>
        </p:nvSpPr>
        <p:spPr>
          <a:xfrm>
            <a:off x="7505395" y="5074920"/>
            <a:ext cx="1724558" cy="1005840"/>
          </a:xfrm>
          <a:prstGeom prst="rect">
            <a:avLst/>
          </a:prstGeom>
          <a:noFill/>
          <a:ln/>
        </p:spPr>
        <p:txBody>
          <a:bodyPr wrap="square" lIns="0" tIns="0" rIns="0" bIns="0" rtlCol="0" anchor="t"/>
          <a:lstStyle/>
          <a:p>
            <a:pPr indent="0" marL="0">
              <a:buNone/>
            </a:pPr>
            <a:r>
              <a:rPr lang="en-US" sz="1200" dirty="0">
                <a:solidFill>
                  <a:srgbClr val="D6EAEC"/>
                </a:solidFill>
                <a:latin typeface="Calibri" pitchFamily="34" charset="0"/>
                <a:ea typeface="Calibri" pitchFamily="34" charset="-122"/>
                <a:cs typeface="Calibri" pitchFamily="34" charset="-120"/>
              </a:rPr>
              <a:t>Claims need a verbatim evidence quote</a:t>
            </a:r>
            <a:endParaRPr lang="en-US" sz="1200" dirty="0"/>
          </a:p>
        </p:txBody>
      </p:sp>
      <p:sp>
        <p:nvSpPr>
          <p:cNvPr id="45" name="Text 43"/>
          <p:cNvSpPr txBox="1"/>
          <p:nvPr/>
        </p:nvSpPr>
        <p:spPr>
          <a:xfrm>
            <a:off x="9367114" y="5074920"/>
            <a:ext cx="274320" cy="457200"/>
          </a:xfrm>
          <a:prstGeom prst="rect">
            <a:avLst/>
          </a:prstGeom>
          <a:noFill/>
          <a:ln/>
        </p:spPr>
        <p:txBody>
          <a:bodyPr wrap="square" lIns="0" tIns="0" rIns="0" bIns="0" rtlCol="0" anchor="ctr"/>
          <a:lstStyle/>
          <a:p>
            <a:pPr algn="ctr" indent="0" marL="0">
              <a:buNone/>
            </a:pPr>
            <a:r>
              <a:rPr lang="en-US" sz="2600" b="1" dirty="0">
                <a:solidFill>
                  <a:srgbClr val="0B4F5C"/>
                </a:solidFill>
                <a:latin typeface="Calibri" pitchFamily="34" charset="0"/>
                <a:ea typeface="Calibri" pitchFamily="34" charset="-122"/>
                <a:cs typeface="Calibri" pitchFamily="34" charset="-120"/>
              </a:rPr>
              <a:t>›</a:t>
            </a:r>
            <a:endParaRPr lang="en-US" sz="2600" dirty="0"/>
          </a:p>
        </p:txBody>
      </p:sp>
      <p:sp>
        <p:nvSpPr>
          <p:cNvPr id="46" name="Shape 44"/>
          <p:cNvSpPr/>
          <p:nvPr/>
        </p:nvSpPr>
        <p:spPr>
          <a:xfrm>
            <a:off x="9641434" y="4572000"/>
            <a:ext cx="1998878" cy="1600200"/>
          </a:xfrm>
          <a:prstGeom prst="roundRect">
            <a:avLst>
              <a:gd name="adj" fmla="val 5714"/>
            </a:avLst>
          </a:prstGeom>
          <a:solidFill>
            <a:srgbClr val="E08A1E"/>
          </a:solidFill>
          <a:ln/>
        </p:spPr>
      </p:sp>
      <p:sp>
        <p:nvSpPr>
          <p:cNvPr id="47" name="Text 45"/>
          <p:cNvSpPr txBox="1"/>
          <p:nvPr/>
        </p:nvSpPr>
        <p:spPr>
          <a:xfrm>
            <a:off x="9778594" y="4681728"/>
            <a:ext cx="172455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Three audiences</a:t>
            </a:r>
            <a:endParaRPr lang="en-US" sz="1300" dirty="0"/>
          </a:p>
        </p:txBody>
      </p:sp>
      <p:sp>
        <p:nvSpPr>
          <p:cNvPr id="48" name="Text 46"/>
          <p:cNvSpPr txBox="1"/>
          <p:nvPr/>
        </p:nvSpPr>
        <p:spPr>
          <a:xfrm>
            <a:off x="9778594" y="5074920"/>
            <a:ext cx="1724558" cy="10058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Citizen · policymaker · investor</a:t>
            </a:r>
            <a:endParaRPr lang="en-US" sz="1200" dirty="0"/>
          </a:p>
        </p:txBody>
      </p:sp>
      <p:sp>
        <p:nvSpPr>
          <p:cNvPr id="49" name="Text 4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INFRA-AI  ·  Digital Public Good</a:t>
            </a:r>
            <a:endParaRPr lang="en-US" sz="1000" dirty="0"/>
          </a:p>
        </p:txBody>
      </p:sp>
      <p:sp>
        <p:nvSpPr>
          <p:cNvPr id="50" name="Text 48"/>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1F5F5"/>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rgbClr val="14232B"/>
                </a:solidFill>
                <a:latin typeface="Cambria" pitchFamily="34" charset="0"/>
                <a:ea typeface="Cambria" pitchFamily="34" charset="-122"/>
                <a:cs typeface="Cambria" pitchFamily="34" charset="-120"/>
              </a:rPr>
              <a:t>Working today — on real data, not mockups</a:t>
            </a:r>
            <a:endParaRPr lang="en-US" sz="3400" dirty="0"/>
          </a:p>
        </p:txBody>
      </p:sp>
      <p:sp>
        <p:nvSpPr>
          <p:cNvPr id="3" name="Shape 1"/>
          <p:cNvSpPr/>
          <p:nvPr/>
        </p:nvSpPr>
        <p:spPr>
          <a:xfrm>
            <a:off x="548640" y="1371600"/>
            <a:ext cx="6903720" cy="4589145"/>
          </a:xfrm>
          <a:prstGeom prst="roundRect">
            <a:avLst>
              <a:gd name="adj" fmla="val 1594"/>
            </a:avLst>
          </a:prstGeom>
          <a:solidFill>
            <a:srgbClr val="FFFFFF"/>
          </a:solidFill>
          <a:ln w="9525">
            <a:solidFill>
              <a:srgbClr val="D5E1E3"/>
            </a:solidFill>
            <a:prstDash val="solid"/>
          </a:ln>
          <a:effectLst>
            <a:outerShdw sx="100000" sy="100000" kx="0" ky="0" algn="bl" rotWithShape="0" blurRad="127000" dist="38100" dir="5400000">
              <a:srgbClr val="000000">
                <a:alpha val="22000"/>
              </a:srgbClr>
            </a:outerShdw>
          </a:effectLst>
        </p:spPr>
      </p:sp>
      <p:sp>
        <p:nvSpPr>
          <p:cNvPr id="4" name="Shape 2"/>
          <p:cNvSpPr/>
          <p:nvPr/>
        </p:nvSpPr>
        <p:spPr>
          <a:xfrm>
            <a:off x="676656" y="1463040"/>
            <a:ext cx="91440" cy="91440"/>
          </a:xfrm>
          <a:prstGeom prst="ellipse">
            <a:avLst/>
          </a:prstGeom>
          <a:solidFill>
            <a:srgbClr val="E5736A"/>
          </a:solidFill>
          <a:ln/>
        </p:spPr>
      </p:sp>
      <p:sp>
        <p:nvSpPr>
          <p:cNvPr id="5" name="Shape 3"/>
          <p:cNvSpPr/>
          <p:nvPr/>
        </p:nvSpPr>
        <p:spPr>
          <a:xfrm>
            <a:off x="822960" y="1463040"/>
            <a:ext cx="91440" cy="91440"/>
          </a:xfrm>
          <a:prstGeom prst="ellipse">
            <a:avLst/>
          </a:prstGeom>
          <a:solidFill>
            <a:srgbClr val="E8B84B"/>
          </a:solidFill>
          <a:ln/>
        </p:spPr>
      </p:sp>
      <p:sp>
        <p:nvSpPr>
          <p:cNvPr id="6" name="Shape 4"/>
          <p:cNvSpPr/>
          <p:nvPr/>
        </p:nvSpPr>
        <p:spPr>
          <a:xfrm>
            <a:off x="969264" y="1463040"/>
            <a:ext cx="91440" cy="91440"/>
          </a:xfrm>
          <a:prstGeom prst="ellipse">
            <a:avLst/>
          </a:prstGeom>
          <a:solidFill>
            <a:srgbClr val="6BBF7A"/>
          </a:solidFill>
          <a:ln/>
        </p:spPr>
      </p:sp>
      <p:sp>
        <p:nvSpPr>
          <p:cNvPr id="7" name="Text 5"/>
          <p:cNvSpPr txBox="1"/>
          <p:nvPr/>
        </p:nvSpPr>
        <p:spPr>
          <a:xfrm>
            <a:off x="1188720" y="1371600"/>
            <a:ext cx="608076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NH Explorer  ·  1,42,905 km of national highways, toll plazas, public transport</a:t>
            </a:r>
            <a:endParaRPr lang="en-US" sz="1000" dirty="0"/>
          </a:p>
        </p:txBody>
      </p:sp>
      <p:pic>
        <p:nvPicPr>
          <p:cNvPr id="8" name="Image 0" descr="/private/tmp/claude-501/-Users-punyasurana-Documents-INFRA-AI--claude-worktrees-six-slide-ppt-design-4aa896/0e2d93fe-4185-4348-bf6f-e59616f7d1d3/scratchpad/shots/c_nh.png">    </p:cNvPr>
          <p:cNvPicPr>
            <a:picLocks noChangeAspect="1"/>
          </p:cNvPicPr>
          <p:nvPr/>
        </p:nvPicPr>
        <p:blipFill>
          <a:blip r:embed="rId1"/>
          <a:stretch>
            <a:fillRect/>
          </a:stretch>
        </p:blipFill>
        <p:spPr>
          <a:xfrm>
            <a:off x="566928" y="1645920"/>
            <a:ext cx="6867144" cy="4296537"/>
          </a:xfrm>
          <a:prstGeom prst="rect">
            <a:avLst/>
          </a:prstGeom>
        </p:spPr>
      </p:pic>
      <p:sp>
        <p:nvSpPr>
          <p:cNvPr id="9" name="Shape 6"/>
          <p:cNvSpPr/>
          <p:nvPr/>
        </p:nvSpPr>
        <p:spPr>
          <a:xfrm>
            <a:off x="7726680" y="1371600"/>
            <a:ext cx="3913632" cy="2339848"/>
          </a:xfrm>
          <a:prstGeom prst="roundRect">
            <a:avLst>
              <a:gd name="adj" fmla="val 3126"/>
            </a:avLst>
          </a:prstGeom>
          <a:solidFill>
            <a:srgbClr val="FFFFFF"/>
          </a:solidFill>
          <a:ln w="9525">
            <a:solidFill>
              <a:srgbClr val="D5E1E3"/>
            </a:solidFill>
            <a:prstDash val="solid"/>
          </a:ln>
          <a:effectLst>
            <a:outerShdw sx="100000" sy="100000" kx="0" ky="0" algn="bl" rotWithShape="0" blurRad="127000" dist="38100" dir="5400000">
              <a:srgbClr val="000000">
                <a:alpha val="22000"/>
              </a:srgbClr>
            </a:outerShdw>
          </a:effectLst>
        </p:spPr>
      </p:sp>
      <p:sp>
        <p:nvSpPr>
          <p:cNvPr id="10" name="Shape 7"/>
          <p:cNvSpPr/>
          <p:nvPr/>
        </p:nvSpPr>
        <p:spPr>
          <a:xfrm>
            <a:off x="7854696" y="1463040"/>
            <a:ext cx="91440" cy="91440"/>
          </a:xfrm>
          <a:prstGeom prst="ellipse">
            <a:avLst/>
          </a:prstGeom>
          <a:solidFill>
            <a:srgbClr val="E5736A"/>
          </a:solidFill>
          <a:ln/>
        </p:spPr>
      </p:sp>
      <p:sp>
        <p:nvSpPr>
          <p:cNvPr id="11" name="Shape 8"/>
          <p:cNvSpPr/>
          <p:nvPr/>
        </p:nvSpPr>
        <p:spPr>
          <a:xfrm>
            <a:off x="8001000" y="1463040"/>
            <a:ext cx="91440" cy="91440"/>
          </a:xfrm>
          <a:prstGeom prst="ellipse">
            <a:avLst/>
          </a:prstGeom>
          <a:solidFill>
            <a:srgbClr val="E8B84B"/>
          </a:solidFill>
          <a:ln/>
        </p:spPr>
      </p:sp>
      <p:sp>
        <p:nvSpPr>
          <p:cNvPr id="12" name="Shape 9"/>
          <p:cNvSpPr/>
          <p:nvPr/>
        </p:nvSpPr>
        <p:spPr>
          <a:xfrm>
            <a:off x="8147304" y="1463040"/>
            <a:ext cx="91440" cy="91440"/>
          </a:xfrm>
          <a:prstGeom prst="ellipse">
            <a:avLst/>
          </a:prstGeom>
          <a:solidFill>
            <a:srgbClr val="6BBF7A"/>
          </a:solidFill>
          <a:ln/>
        </p:spPr>
      </p:sp>
      <p:sp>
        <p:nvSpPr>
          <p:cNvPr id="13" name="Text 10"/>
          <p:cNvSpPr txBox="1"/>
          <p:nvPr/>
        </p:nvSpPr>
        <p:spPr>
          <a:xfrm>
            <a:off x="8366760" y="1371600"/>
            <a:ext cx="3090672"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Policymaker View  ·  state-wise NH metrics</a:t>
            </a:r>
            <a:endParaRPr lang="en-US" sz="1000" dirty="0"/>
          </a:p>
        </p:txBody>
      </p:sp>
      <p:pic>
        <p:nvPicPr>
          <p:cNvPr id="14" name="Image 1" descr="/private/tmp/claude-501/-Users-punyasurana-Documents-INFRA-AI--claude-worktrees-six-slide-ppt-design-4aa896/0e2d93fe-4185-4348-bf6f-e59616f7d1d3/scratchpad/shots/c_policy.png">    </p:cNvPr>
          <p:cNvPicPr>
            <a:picLocks noChangeAspect="1"/>
          </p:cNvPicPr>
          <p:nvPr/>
        </p:nvPicPr>
        <p:blipFill>
          <a:blip r:embed="rId2"/>
          <a:stretch>
            <a:fillRect/>
          </a:stretch>
        </p:blipFill>
        <p:spPr>
          <a:xfrm>
            <a:off x="7744968" y="1645920"/>
            <a:ext cx="3877056" cy="2047240"/>
          </a:xfrm>
          <a:prstGeom prst="rect">
            <a:avLst/>
          </a:prstGeom>
        </p:spPr>
      </p:pic>
      <p:sp>
        <p:nvSpPr>
          <p:cNvPr id="15" name="Shape 11"/>
          <p:cNvSpPr/>
          <p:nvPr/>
        </p:nvSpPr>
        <p:spPr>
          <a:xfrm>
            <a:off x="7726680" y="3886200"/>
            <a:ext cx="3913632" cy="2231136"/>
          </a:xfrm>
          <a:prstGeom prst="roundRect">
            <a:avLst>
              <a:gd name="adj" fmla="val 3279"/>
            </a:avLst>
          </a:prstGeom>
          <a:solidFill>
            <a:srgbClr val="FFFFFF"/>
          </a:solidFill>
          <a:ln w="9525">
            <a:solidFill>
              <a:srgbClr val="D5E1E3"/>
            </a:solidFill>
            <a:prstDash val="solid"/>
          </a:ln>
          <a:effectLst>
            <a:outerShdw sx="100000" sy="100000" kx="0" ky="0" algn="bl" rotWithShape="0" blurRad="127000" dist="38100" dir="5400000">
              <a:srgbClr val="000000">
                <a:alpha val="22000"/>
              </a:srgbClr>
            </a:outerShdw>
          </a:effectLst>
        </p:spPr>
      </p:sp>
      <p:sp>
        <p:nvSpPr>
          <p:cNvPr id="16" name="Shape 12"/>
          <p:cNvSpPr/>
          <p:nvPr/>
        </p:nvSpPr>
        <p:spPr>
          <a:xfrm>
            <a:off x="7854696" y="3977640"/>
            <a:ext cx="91440" cy="91440"/>
          </a:xfrm>
          <a:prstGeom prst="ellipse">
            <a:avLst/>
          </a:prstGeom>
          <a:solidFill>
            <a:srgbClr val="E5736A"/>
          </a:solidFill>
          <a:ln/>
        </p:spPr>
      </p:sp>
      <p:sp>
        <p:nvSpPr>
          <p:cNvPr id="17" name="Shape 13"/>
          <p:cNvSpPr/>
          <p:nvPr/>
        </p:nvSpPr>
        <p:spPr>
          <a:xfrm>
            <a:off x="8001000" y="3977640"/>
            <a:ext cx="91440" cy="91440"/>
          </a:xfrm>
          <a:prstGeom prst="ellipse">
            <a:avLst/>
          </a:prstGeom>
          <a:solidFill>
            <a:srgbClr val="E8B84B"/>
          </a:solidFill>
          <a:ln/>
        </p:spPr>
      </p:sp>
      <p:sp>
        <p:nvSpPr>
          <p:cNvPr id="18" name="Shape 14"/>
          <p:cNvSpPr/>
          <p:nvPr/>
        </p:nvSpPr>
        <p:spPr>
          <a:xfrm>
            <a:off x="8147304" y="3977640"/>
            <a:ext cx="91440" cy="91440"/>
          </a:xfrm>
          <a:prstGeom prst="ellipse">
            <a:avLst/>
          </a:prstGeom>
          <a:solidFill>
            <a:srgbClr val="6BBF7A"/>
          </a:solidFill>
          <a:ln/>
        </p:spPr>
      </p:sp>
      <p:sp>
        <p:nvSpPr>
          <p:cNvPr id="19" name="Text 15"/>
          <p:cNvSpPr txBox="1"/>
          <p:nvPr/>
        </p:nvSpPr>
        <p:spPr>
          <a:xfrm>
            <a:off x="8366760" y="3886200"/>
            <a:ext cx="3090672"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Invest  ·  top cities, scored from facts</a:t>
            </a:r>
            <a:endParaRPr lang="en-US" sz="1000" dirty="0"/>
          </a:p>
        </p:txBody>
      </p:sp>
      <p:pic>
        <p:nvPicPr>
          <p:cNvPr id="20" name="Image 2" descr="/private/tmp/claude-501/-Users-punyasurana-Documents-INFRA-AI--claude-worktrees-six-slide-ppt-design-4aa896/0e2d93fe-4185-4348-bf6f-e59616f7d1d3/scratchpad/shots/c_invest.png">    </p:cNvPr>
          <p:cNvPicPr>
            <a:picLocks noChangeAspect="1"/>
          </p:cNvPicPr>
          <p:nvPr/>
        </p:nvPicPr>
        <p:blipFill>
          <a:blip r:embed="rId3"/>
          <a:stretch>
            <a:fillRect/>
          </a:stretch>
        </p:blipFill>
        <p:spPr>
          <a:xfrm>
            <a:off x="7744968" y="4160520"/>
            <a:ext cx="3877056" cy="1938528"/>
          </a:xfrm>
          <a:prstGeom prst="rect">
            <a:avLst/>
          </a:prstGeom>
        </p:spPr>
      </p:pic>
      <p:sp>
        <p:nvSpPr>
          <p:cNvPr id="21" name="Text 16"/>
          <p:cNvSpPr txBox="1"/>
          <p:nvPr/>
        </p:nvSpPr>
        <p:spPr>
          <a:xfrm>
            <a:off x="548640" y="6172200"/>
            <a:ext cx="10058400" cy="274320"/>
          </a:xfrm>
          <a:prstGeom prst="rect">
            <a:avLst/>
          </a:prstGeom>
          <a:noFill/>
          <a:ln/>
        </p:spPr>
        <p:txBody>
          <a:bodyPr wrap="square" lIns="0" tIns="0" rIns="0" bIns="0" rtlCol="0" anchor="ctr"/>
          <a:lstStyle/>
          <a:p>
            <a:pPr indent="0" marL="0">
              <a:buNone/>
            </a:pPr>
            <a:r>
              <a:rPr lang="en-US" sz="1100" dirty="0">
                <a:solidFill>
                  <a:srgbClr val="5B6B72"/>
                </a:solidFill>
                <a:latin typeface="Calibri" pitchFamily="34" charset="0"/>
                <a:ea typeface="Calibri" pitchFamily="34" charset="-122"/>
                <a:cs typeface="Calibri" pitchFamily="34" charset="-120"/>
              </a:rPr>
              <a:t>Screenshots of the running app (fixture data as of 2026-09-29). Every number links to a source.</a:t>
            </a:r>
            <a:endParaRPr lang="en-US" sz="1100" dirty="0"/>
          </a:p>
        </p:txBody>
      </p:sp>
      <p:sp>
        <p:nvSpPr>
          <p:cNvPr id="22"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INFRA-AI  ·  Digital Public Good</a:t>
            </a:r>
            <a:endParaRPr lang="en-US" sz="1000" dirty="0"/>
          </a:p>
        </p:txBody>
      </p:sp>
      <p:sp>
        <p:nvSpPr>
          <p:cNvPr id="23" name="Text 18"/>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rgbClr val="14232B"/>
                </a:solidFill>
                <a:latin typeface="Cambria" pitchFamily="34" charset="0"/>
                <a:ea typeface="Cambria" pitchFamily="34" charset="-122"/>
                <a:cs typeface="Cambria" pitchFamily="34" charset="-120"/>
              </a:rPr>
              <a:t>Feasible: data exists, stack is lean, core is built</a:t>
            </a:r>
            <a:endParaRPr lang="en-US" sz="3400" dirty="0"/>
          </a:p>
        </p:txBody>
      </p:sp>
      <p:sp>
        <p:nvSpPr>
          <p:cNvPr id="3" name="Shape 1"/>
          <p:cNvSpPr/>
          <p:nvPr/>
        </p:nvSpPr>
        <p:spPr>
          <a:xfrm>
            <a:off x="548640" y="1371600"/>
            <a:ext cx="3200400" cy="2286000"/>
          </a:xfrm>
          <a:prstGeom prst="roundRect">
            <a:avLst>
              <a:gd name="adj" fmla="val 4000"/>
            </a:avLst>
          </a:prstGeom>
          <a:solidFill>
            <a:srgbClr val="EAF2F3"/>
          </a:solidFill>
          <a:ln/>
        </p:spPr>
      </p:sp>
      <p:sp>
        <p:nvSpPr>
          <p:cNvPr id="4" name="Text 2"/>
          <p:cNvSpPr txBox="1"/>
          <p:nvPr/>
        </p:nvSpPr>
        <p:spPr>
          <a:xfrm>
            <a:off x="731520" y="1536192"/>
            <a:ext cx="1737360" cy="365760"/>
          </a:xfrm>
          <a:prstGeom prst="rect">
            <a:avLst/>
          </a:prstGeom>
          <a:noFill/>
          <a:ln/>
        </p:spPr>
        <p:txBody>
          <a:bodyPr wrap="square" lIns="0" tIns="0" rIns="0" bIns="0" rtlCol="0" anchor="ctr"/>
          <a:lstStyle/>
          <a:p>
            <a:pPr indent="0" marL="0">
              <a:buNone/>
            </a:pPr>
            <a:r>
              <a:rPr lang="en-US" sz="1600" b="1" dirty="0">
                <a:solidFill>
                  <a:srgbClr val="14232B"/>
                </a:solidFill>
                <a:latin typeface="Cambria" pitchFamily="34" charset="0"/>
                <a:ea typeface="Cambria" pitchFamily="34" charset="-122"/>
                <a:cs typeface="Cambria" pitchFamily="34" charset="-120"/>
              </a:rPr>
              <a:t>Data</a:t>
            </a:r>
            <a:endParaRPr lang="en-US" sz="1600" dirty="0"/>
          </a:p>
        </p:txBody>
      </p:sp>
      <p:sp>
        <p:nvSpPr>
          <p:cNvPr id="5" name="Shape 3"/>
          <p:cNvSpPr/>
          <p:nvPr/>
        </p:nvSpPr>
        <p:spPr>
          <a:xfrm>
            <a:off x="2377440" y="1572768"/>
            <a:ext cx="1188720" cy="274320"/>
          </a:xfrm>
          <a:prstGeom prst="roundRect">
            <a:avLst>
              <a:gd name="adj" fmla="val 50000"/>
            </a:avLst>
          </a:prstGeom>
          <a:solidFill>
            <a:srgbClr val="0B4F5C"/>
          </a:solidFill>
          <a:ln/>
        </p:spPr>
      </p:sp>
      <p:sp>
        <p:nvSpPr>
          <p:cNvPr id="6" name="Text 4"/>
          <p:cNvSpPr txBox="1"/>
          <p:nvPr/>
        </p:nvSpPr>
        <p:spPr>
          <a:xfrm>
            <a:off x="2377440" y="157276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Proven</a:t>
            </a:r>
            <a:endParaRPr lang="en-US" sz="1000" dirty="0"/>
          </a:p>
        </p:txBody>
      </p:sp>
      <p:sp>
        <p:nvSpPr>
          <p:cNvPr id="7" name="Text 5"/>
          <p:cNvSpPr txBox="1"/>
          <p:nvPr/>
        </p:nvSpPr>
        <p:spPr>
          <a:xfrm>
            <a:off x="731520" y="2029968"/>
            <a:ext cx="2834640" cy="15544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Open, licensed sources: OSM, MoRTH, WorldPop, GHSL, PIB. OSM covers 97.8% of official NH length (1,42,905 of 1,46,194 km). 381 cities scored.</a:t>
            </a:r>
            <a:endParaRPr lang="en-US" sz="1200" dirty="0"/>
          </a:p>
        </p:txBody>
      </p:sp>
      <p:sp>
        <p:nvSpPr>
          <p:cNvPr id="8" name="Shape 6"/>
          <p:cNvSpPr/>
          <p:nvPr/>
        </p:nvSpPr>
        <p:spPr>
          <a:xfrm>
            <a:off x="3931920" y="1371600"/>
            <a:ext cx="3200400" cy="2286000"/>
          </a:xfrm>
          <a:prstGeom prst="roundRect">
            <a:avLst>
              <a:gd name="adj" fmla="val 4000"/>
            </a:avLst>
          </a:prstGeom>
          <a:solidFill>
            <a:srgbClr val="EAF2F3"/>
          </a:solidFill>
          <a:ln/>
        </p:spPr>
      </p:sp>
      <p:sp>
        <p:nvSpPr>
          <p:cNvPr id="9" name="Text 7"/>
          <p:cNvSpPr txBox="1"/>
          <p:nvPr/>
        </p:nvSpPr>
        <p:spPr>
          <a:xfrm>
            <a:off x="4114800" y="1536192"/>
            <a:ext cx="1737360" cy="365760"/>
          </a:xfrm>
          <a:prstGeom prst="rect">
            <a:avLst/>
          </a:prstGeom>
          <a:noFill/>
          <a:ln/>
        </p:spPr>
        <p:txBody>
          <a:bodyPr wrap="square" lIns="0" tIns="0" rIns="0" bIns="0" rtlCol="0" anchor="ctr"/>
          <a:lstStyle/>
          <a:p>
            <a:pPr indent="0" marL="0">
              <a:buNone/>
            </a:pPr>
            <a:r>
              <a:rPr lang="en-US" sz="1600" b="1" dirty="0">
                <a:solidFill>
                  <a:srgbClr val="14232B"/>
                </a:solidFill>
                <a:latin typeface="Cambria" pitchFamily="34" charset="0"/>
                <a:ea typeface="Cambria" pitchFamily="34" charset="-122"/>
                <a:cs typeface="Cambria" pitchFamily="34" charset="-120"/>
              </a:rPr>
              <a:t>Technology</a:t>
            </a:r>
            <a:endParaRPr lang="en-US" sz="1600" dirty="0"/>
          </a:p>
        </p:txBody>
      </p:sp>
      <p:sp>
        <p:nvSpPr>
          <p:cNvPr id="10" name="Shape 8"/>
          <p:cNvSpPr/>
          <p:nvPr/>
        </p:nvSpPr>
        <p:spPr>
          <a:xfrm>
            <a:off x="5760720" y="1572768"/>
            <a:ext cx="1188720" cy="274320"/>
          </a:xfrm>
          <a:prstGeom prst="roundRect">
            <a:avLst>
              <a:gd name="adj" fmla="val 50000"/>
            </a:avLst>
          </a:prstGeom>
          <a:solidFill>
            <a:srgbClr val="0B4F5C"/>
          </a:solidFill>
          <a:ln/>
        </p:spPr>
      </p:sp>
      <p:sp>
        <p:nvSpPr>
          <p:cNvPr id="11" name="Text 9"/>
          <p:cNvSpPr txBox="1"/>
          <p:nvPr/>
        </p:nvSpPr>
        <p:spPr>
          <a:xfrm>
            <a:off x="5760720" y="157276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Built, DB next</a:t>
            </a:r>
            <a:endParaRPr lang="en-US" sz="1000" dirty="0"/>
          </a:p>
        </p:txBody>
      </p:sp>
      <p:sp>
        <p:nvSpPr>
          <p:cNvPr id="12" name="Text 10"/>
          <p:cNvSpPr txBox="1"/>
          <p:nvPr/>
        </p:nvSpPr>
        <p:spPr>
          <a:xfrm>
            <a:off x="4114800" y="2029968"/>
            <a:ext cx="2834640" cy="15544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Postgres/PostGIS on an H3 grid, Go API, Python for ML. Scores are config-weighted sums with stored drivers — no black-box model.</a:t>
            </a:r>
            <a:endParaRPr lang="en-US" sz="1200" dirty="0"/>
          </a:p>
        </p:txBody>
      </p:sp>
      <p:sp>
        <p:nvSpPr>
          <p:cNvPr id="13" name="Shape 11"/>
          <p:cNvSpPr/>
          <p:nvPr/>
        </p:nvSpPr>
        <p:spPr>
          <a:xfrm>
            <a:off x="548640" y="3840480"/>
            <a:ext cx="3200400" cy="2286000"/>
          </a:xfrm>
          <a:prstGeom prst="roundRect">
            <a:avLst>
              <a:gd name="adj" fmla="val 4000"/>
            </a:avLst>
          </a:prstGeom>
          <a:solidFill>
            <a:srgbClr val="EAF2F3"/>
          </a:solidFill>
          <a:ln/>
        </p:spPr>
      </p:sp>
      <p:sp>
        <p:nvSpPr>
          <p:cNvPr id="14" name="Text 12"/>
          <p:cNvSpPr txBox="1"/>
          <p:nvPr/>
        </p:nvSpPr>
        <p:spPr>
          <a:xfrm>
            <a:off x="731520" y="4005072"/>
            <a:ext cx="1737360" cy="365760"/>
          </a:xfrm>
          <a:prstGeom prst="rect">
            <a:avLst/>
          </a:prstGeom>
          <a:noFill/>
          <a:ln/>
        </p:spPr>
        <p:txBody>
          <a:bodyPr wrap="square" lIns="0" tIns="0" rIns="0" bIns="0" rtlCol="0" anchor="ctr"/>
          <a:lstStyle/>
          <a:p>
            <a:pPr indent="0" marL="0">
              <a:buNone/>
            </a:pPr>
            <a:r>
              <a:rPr lang="en-US" sz="1600" b="1" dirty="0">
                <a:solidFill>
                  <a:srgbClr val="14232B"/>
                </a:solidFill>
                <a:latin typeface="Cambria" pitchFamily="34" charset="0"/>
                <a:ea typeface="Cambria" pitchFamily="34" charset="-122"/>
                <a:cs typeface="Cambria" pitchFamily="34" charset="-120"/>
              </a:rPr>
              <a:t>Legal &amp; privacy</a:t>
            </a:r>
            <a:endParaRPr lang="en-US" sz="1600" dirty="0"/>
          </a:p>
        </p:txBody>
      </p:sp>
      <p:sp>
        <p:nvSpPr>
          <p:cNvPr id="15" name="Shape 13"/>
          <p:cNvSpPr/>
          <p:nvPr/>
        </p:nvSpPr>
        <p:spPr>
          <a:xfrm>
            <a:off x="2377440" y="4041648"/>
            <a:ext cx="1188720" cy="274320"/>
          </a:xfrm>
          <a:prstGeom prst="roundRect">
            <a:avLst>
              <a:gd name="adj" fmla="val 50000"/>
            </a:avLst>
          </a:prstGeom>
          <a:solidFill>
            <a:srgbClr val="0B4F5C"/>
          </a:solidFill>
          <a:ln/>
        </p:spPr>
      </p:sp>
      <p:sp>
        <p:nvSpPr>
          <p:cNvPr id="16" name="Text 14"/>
          <p:cNvSpPr txBox="1"/>
          <p:nvPr/>
        </p:nvSpPr>
        <p:spPr>
          <a:xfrm>
            <a:off x="2377440" y="404164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By design</a:t>
            </a:r>
            <a:endParaRPr lang="en-US" sz="1000" dirty="0"/>
          </a:p>
        </p:txBody>
      </p:sp>
      <p:sp>
        <p:nvSpPr>
          <p:cNvPr id="17" name="Text 15"/>
          <p:cNvSpPr txBox="1"/>
          <p:nvPr/>
        </p:nvSpPr>
        <p:spPr>
          <a:xfrm>
            <a:off x="731520" y="4498848"/>
            <a:ext cx="2834640" cy="15544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Redact before storage; counts under 5 suppressed; never collect Aadhaar. Every record carries source, licence and confidence.</a:t>
            </a:r>
            <a:endParaRPr lang="en-US" sz="1200" dirty="0"/>
          </a:p>
        </p:txBody>
      </p:sp>
      <p:sp>
        <p:nvSpPr>
          <p:cNvPr id="18" name="Shape 16"/>
          <p:cNvSpPr/>
          <p:nvPr/>
        </p:nvSpPr>
        <p:spPr>
          <a:xfrm>
            <a:off x="3931920" y="3840480"/>
            <a:ext cx="3200400" cy="2286000"/>
          </a:xfrm>
          <a:prstGeom prst="roundRect">
            <a:avLst>
              <a:gd name="adj" fmla="val 4000"/>
            </a:avLst>
          </a:prstGeom>
          <a:solidFill>
            <a:srgbClr val="EAF2F3"/>
          </a:solidFill>
          <a:ln/>
        </p:spPr>
      </p:sp>
      <p:sp>
        <p:nvSpPr>
          <p:cNvPr id="19" name="Text 17"/>
          <p:cNvSpPr txBox="1"/>
          <p:nvPr/>
        </p:nvSpPr>
        <p:spPr>
          <a:xfrm>
            <a:off x="4114800" y="4005072"/>
            <a:ext cx="1737360" cy="365760"/>
          </a:xfrm>
          <a:prstGeom prst="rect">
            <a:avLst/>
          </a:prstGeom>
          <a:noFill/>
          <a:ln/>
        </p:spPr>
        <p:txBody>
          <a:bodyPr wrap="square" lIns="0" tIns="0" rIns="0" bIns="0" rtlCol="0" anchor="ctr"/>
          <a:lstStyle/>
          <a:p>
            <a:pPr indent="0" marL="0">
              <a:buNone/>
            </a:pPr>
            <a:r>
              <a:rPr lang="en-US" sz="1600" b="1" dirty="0">
                <a:solidFill>
                  <a:srgbClr val="14232B"/>
                </a:solidFill>
                <a:latin typeface="Cambria" pitchFamily="34" charset="0"/>
                <a:ea typeface="Cambria" pitchFamily="34" charset="-122"/>
                <a:cs typeface="Cambria" pitchFamily="34" charset="-120"/>
              </a:rPr>
              <a:t>Delivery</a:t>
            </a:r>
            <a:endParaRPr lang="en-US" sz="1600" dirty="0"/>
          </a:p>
        </p:txBody>
      </p:sp>
      <p:sp>
        <p:nvSpPr>
          <p:cNvPr id="20" name="Shape 18"/>
          <p:cNvSpPr/>
          <p:nvPr/>
        </p:nvSpPr>
        <p:spPr>
          <a:xfrm>
            <a:off x="5760720" y="4041648"/>
            <a:ext cx="1188720" cy="274320"/>
          </a:xfrm>
          <a:prstGeom prst="roundRect">
            <a:avLst>
              <a:gd name="adj" fmla="val 50000"/>
            </a:avLst>
          </a:prstGeom>
          <a:solidFill>
            <a:srgbClr val="0B4F5C"/>
          </a:solidFill>
          <a:ln/>
        </p:spPr>
      </p:sp>
      <p:sp>
        <p:nvSpPr>
          <p:cNvPr id="21" name="Text 19"/>
          <p:cNvSpPr txBox="1"/>
          <p:nvPr/>
        </p:nvSpPr>
        <p:spPr>
          <a:xfrm>
            <a:off x="5760720" y="404164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On track</a:t>
            </a:r>
            <a:endParaRPr lang="en-US" sz="1000" dirty="0"/>
          </a:p>
        </p:txBody>
      </p:sp>
      <p:sp>
        <p:nvSpPr>
          <p:cNvPr id="22" name="Text 20"/>
          <p:cNvSpPr txBox="1"/>
          <p:nvPr/>
        </p:nvSpPr>
        <p:spPr>
          <a:xfrm>
            <a:off x="4114800" y="4498848"/>
            <a:ext cx="2834640" cy="1554480"/>
          </a:xfrm>
          <a:prstGeom prst="rect">
            <a:avLst/>
          </a:prstGeom>
          <a:noFill/>
          <a:ln/>
        </p:spPr>
        <p:txBody>
          <a:bodyPr wrap="square" lIns="0" tIns="0" rIns="0" bIns="0" rtlCol="0" anchor="t"/>
          <a:lstStyle/>
          <a:p>
            <a:pPr indent="0" marL="0">
              <a:buNone/>
            </a:pPr>
            <a:r>
              <a:rPr lang="en-US" sz="1200" dirty="0">
                <a:solidFill>
                  <a:srgbClr val="5B6B72"/>
                </a:solidFill>
                <a:latin typeface="Calibri" pitchFamily="34" charset="0"/>
                <a:ea typeface="Calibri" pitchFamily="34" charset="-122"/>
                <a:cs typeface="Calibri" pitchFamily="34" charset="-120"/>
              </a:rPr>
              <a:t>NH data and analysis done; pipeline half done. Investor flow live. Next: DB, API and UI shell. A new city is one config file.</a:t>
            </a:r>
            <a:endParaRPr lang="en-US" sz="1200" dirty="0"/>
          </a:p>
        </p:txBody>
      </p:sp>
      <p:sp>
        <p:nvSpPr>
          <p:cNvPr id="23" name="Shape 21"/>
          <p:cNvSpPr/>
          <p:nvPr/>
        </p:nvSpPr>
        <p:spPr>
          <a:xfrm>
            <a:off x="7589520" y="1371600"/>
            <a:ext cx="4050792" cy="2819508"/>
          </a:xfrm>
          <a:prstGeom prst="roundRect">
            <a:avLst>
              <a:gd name="adj" fmla="val 2594"/>
            </a:avLst>
          </a:prstGeom>
          <a:solidFill>
            <a:srgbClr val="FFFFFF"/>
          </a:solidFill>
          <a:ln w="9525">
            <a:solidFill>
              <a:srgbClr val="D5E1E3"/>
            </a:solidFill>
            <a:prstDash val="solid"/>
          </a:ln>
          <a:effectLst>
            <a:outerShdw sx="100000" sy="100000" kx="0" ky="0" algn="bl" rotWithShape="0" blurRad="127000" dist="38100" dir="5400000">
              <a:srgbClr val="000000">
                <a:alpha val="22000"/>
              </a:srgbClr>
            </a:outerShdw>
          </a:effectLst>
        </p:spPr>
      </p:sp>
      <p:sp>
        <p:nvSpPr>
          <p:cNvPr id="24" name="Shape 22"/>
          <p:cNvSpPr/>
          <p:nvPr/>
        </p:nvSpPr>
        <p:spPr>
          <a:xfrm>
            <a:off x="7717536" y="1463040"/>
            <a:ext cx="91440" cy="91440"/>
          </a:xfrm>
          <a:prstGeom prst="ellipse">
            <a:avLst/>
          </a:prstGeom>
          <a:solidFill>
            <a:srgbClr val="E5736A"/>
          </a:solidFill>
          <a:ln/>
        </p:spPr>
      </p:sp>
      <p:sp>
        <p:nvSpPr>
          <p:cNvPr id="25" name="Shape 23"/>
          <p:cNvSpPr/>
          <p:nvPr/>
        </p:nvSpPr>
        <p:spPr>
          <a:xfrm>
            <a:off x="7863840" y="1463040"/>
            <a:ext cx="91440" cy="91440"/>
          </a:xfrm>
          <a:prstGeom prst="ellipse">
            <a:avLst/>
          </a:prstGeom>
          <a:solidFill>
            <a:srgbClr val="E8B84B"/>
          </a:solidFill>
          <a:ln/>
        </p:spPr>
      </p:sp>
      <p:sp>
        <p:nvSpPr>
          <p:cNvPr id="26" name="Shape 24"/>
          <p:cNvSpPr/>
          <p:nvPr/>
        </p:nvSpPr>
        <p:spPr>
          <a:xfrm>
            <a:off x="8010144" y="1463040"/>
            <a:ext cx="91440" cy="91440"/>
          </a:xfrm>
          <a:prstGeom prst="ellipse">
            <a:avLst/>
          </a:prstGeom>
          <a:solidFill>
            <a:srgbClr val="6BBF7A"/>
          </a:solidFill>
          <a:ln/>
        </p:spPr>
      </p:sp>
      <p:sp>
        <p:nvSpPr>
          <p:cNvPr id="27" name="Text 25"/>
          <p:cNvSpPr txBox="1"/>
          <p:nvPr/>
        </p:nvSpPr>
        <p:spPr>
          <a:xfrm>
            <a:off x="8229600" y="1371600"/>
            <a:ext cx="3227832"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Pune  ·  area scores on the H3 grid</a:t>
            </a:r>
            <a:endParaRPr lang="en-US" sz="1000" dirty="0"/>
          </a:p>
        </p:txBody>
      </p:sp>
      <p:pic>
        <p:nvPicPr>
          <p:cNvPr id="28" name="Image 0" descr="/private/tmp/claude-501/-Users-punyasurana-Documents-INFRA-AI--claude-worktrees-six-slide-ppt-design-4aa896/0e2d93fe-4185-4348-bf6f-e59616f7d1d3/scratchpad/shots/c_city.png">    </p:cNvPr>
          <p:cNvPicPr>
            <a:picLocks noChangeAspect="1"/>
          </p:cNvPicPr>
          <p:nvPr/>
        </p:nvPicPr>
        <p:blipFill>
          <a:blip r:embed="rId1"/>
          <a:stretch>
            <a:fillRect/>
          </a:stretch>
        </p:blipFill>
        <p:spPr>
          <a:xfrm>
            <a:off x="7607808" y="1645920"/>
            <a:ext cx="4014216" cy="2526900"/>
          </a:xfrm>
          <a:prstGeom prst="rect">
            <a:avLst/>
          </a:prstGeom>
        </p:spPr>
      </p:pic>
      <p:sp>
        <p:nvSpPr>
          <p:cNvPr id="29" name="Shape 26"/>
          <p:cNvSpPr/>
          <p:nvPr/>
        </p:nvSpPr>
        <p:spPr>
          <a:xfrm>
            <a:off x="7589520" y="4419708"/>
            <a:ext cx="4050792" cy="1889652"/>
          </a:xfrm>
          <a:prstGeom prst="roundRect">
            <a:avLst>
              <a:gd name="adj" fmla="val 4839"/>
            </a:avLst>
          </a:prstGeom>
          <a:solidFill>
            <a:srgbClr val="072C34"/>
          </a:solidFill>
          <a:ln/>
        </p:spPr>
      </p:sp>
      <p:sp>
        <p:nvSpPr>
          <p:cNvPr id="30" name="Text 27"/>
          <p:cNvSpPr txBox="1"/>
          <p:nvPr/>
        </p:nvSpPr>
        <p:spPr>
          <a:xfrm>
            <a:off x="7772400" y="4529436"/>
            <a:ext cx="3657600" cy="274320"/>
          </a:xfrm>
          <a:prstGeom prst="rect">
            <a:avLst/>
          </a:prstGeom>
          <a:noFill/>
          <a:ln/>
        </p:spPr>
        <p:txBody>
          <a:bodyPr wrap="square" lIns="0" tIns="0" rIns="0" bIns="0" rtlCol="0" anchor="ctr"/>
          <a:lstStyle/>
          <a:p>
            <a:pPr indent="0" marL="0">
              <a:buNone/>
            </a:pPr>
            <a:r>
              <a:rPr lang="en-US" sz="1200" b="1" dirty="0">
                <a:solidFill>
                  <a:srgbClr val="E08A1E"/>
                </a:solidFill>
                <a:latin typeface="Calibri" pitchFamily="34" charset="0"/>
                <a:ea typeface="Calibri" pitchFamily="34" charset="-122"/>
                <a:cs typeface="Calibri" pitchFamily="34" charset="-120"/>
              </a:rPr>
              <a:t>Risks we track</a:t>
            </a:r>
            <a:endParaRPr lang="en-US" sz="1200" dirty="0"/>
          </a:p>
        </p:txBody>
      </p:sp>
      <p:sp>
        <p:nvSpPr>
          <p:cNvPr id="31" name="Text 28"/>
          <p:cNvSpPr txBox="1"/>
          <p:nvPr/>
        </p:nvSpPr>
        <p:spPr>
          <a:xfrm>
            <a:off x="7772400" y="4831188"/>
            <a:ext cx="3703320" cy="13867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CFE3E6"/>
                </a:solidFill>
                <a:latin typeface="Calibri" pitchFamily="34" charset="0"/>
                <a:ea typeface="Calibri" pitchFamily="34" charset="-122"/>
                <a:cs typeface="Calibri" pitchFamily="34" charset="-120"/>
              </a:rPr>
              <a:t>NHAI layer has no stated licence: used for analysis, never redistributed</a:t>
            </a:r>
            <a:endParaRPr lang="en-US" sz="1200" dirty="0"/>
          </a:p>
          <a:p>
            <a:pPr marL="342900" indent="-342900">
              <a:spcAft>
                <a:spcPts val="400"/>
              </a:spcAft>
              <a:buSzPct val="100000"/>
              <a:buChar char="•"/>
            </a:pPr>
            <a:r>
              <a:rPr lang="en-US" sz="1200" dirty="0">
                <a:solidFill>
                  <a:srgbClr val="CFE3E6"/>
                </a:solidFill>
                <a:latin typeface="Calibri" pitchFamily="34" charset="0"/>
                <a:ea typeface="Calibri" pitchFamily="34" charset="-122"/>
                <a:cs typeface="Calibri" pitchFamily="34" charset="-120"/>
              </a:rPr>
              <a:t>OSM lags openings: checked against official dates</a:t>
            </a:r>
            <a:endParaRPr lang="en-US" sz="1200" dirty="0"/>
          </a:p>
          <a:p>
            <a:pPr marL="342900" indent="-342900">
              <a:spcAft>
                <a:spcPts val="400"/>
              </a:spcAft>
              <a:buSzPct val="100000"/>
              <a:buChar char="•"/>
            </a:pPr>
            <a:r>
              <a:rPr lang="en-US" sz="1200" dirty="0">
                <a:solidFill>
                  <a:srgbClr val="CFE3E6"/>
                </a:solidFill>
                <a:latin typeface="Calibri" pitchFamily="34" charset="0"/>
                <a:ea typeface="Calibri" pitchFamily="34" charset="-122"/>
                <a:cs typeface="Calibri" pitchFamily="34" charset="-120"/>
              </a:rPr>
              <a:t>Ambiguous or invalid input goes to a review queue, never guessed</a:t>
            </a:r>
            <a:endParaRPr lang="en-US" sz="1200" dirty="0"/>
          </a:p>
        </p:txBody>
      </p:sp>
      <p:sp>
        <p:nvSpPr>
          <p:cNvPr id="32" name="Text 2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INFRA-AI  ·  Digital Public Good</a:t>
            </a:r>
            <a:endParaRPr lang="en-US" sz="1000" dirty="0"/>
          </a:p>
        </p:txBody>
      </p:sp>
      <p:sp>
        <p:nvSpPr>
          <p:cNvPr id="33" name="Text 30"/>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778240" cy="777240"/>
          </a:xfrm>
          <a:prstGeom prst="rect">
            <a:avLst/>
          </a:prstGeom>
          <a:noFill/>
        </p:spPr>
        <p:txBody>
          <a:bodyPr wrap="square" lIns="0" rIns="0" tIns="0" bIns="0" anchor="ctr">
            <a:spAutoFit/>
          </a:bodyPr>
          <a:lstStyle/>
          <a:p>
            <a:pPr>
              <a:spcAft>
                <a:spcPts val="300"/>
              </a:spcAft>
            </a:pPr>
            <a:r>
              <a:rPr sz="3400" b="1">
                <a:solidFill>
                  <a:srgbClr val="14232B"/>
                </a:solidFill>
                <a:latin typeface="Cambria"/>
              </a:rPr>
              <a:t>BRICS: one infrastructure lens</a:t>
            </a:r>
          </a:p>
        </p:txBody>
      </p:sp>
      <p:sp>
        <p:nvSpPr>
          <p:cNvPr id="3" name="Rounded Rectangle 2"/>
          <p:cNvSpPr/>
          <p:nvPr/>
        </p:nvSpPr>
        <p:spPr>
          <a:xfrm>
            <a:off x="9555480" y="566928"/>
            <a:ext cx="2084831" cy="365760"/>
          </a:xfrm>
          <a:prstGeom prst="roundRect">
            <a:avLst>
              <a:gd name="adj" fmla="val 50000"/>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55480" y="566928"/>
            <a:ext cx="2084831" cy="365760"/>
          </a:xfrm>
          <a:prstGeom prst="rect">
            <a:avLst/>
          </a:prstGeom>
          <a:noFill/>
        </p:spPr>
        <p:txBody>
          <a:bodyPr wrap="square" lIns="0" rIns="0" tIns="0" bIns="0" anchor="ctr">
            <a:spAutoFit/>
          </a:bodyPr>
          <a:lstStyle/>
          <a:p>
            <a:pPr algn="ctr">
              <a:spcAft>
                <a:spcPts val="300"/>
              </a:spcAft>
            </a:pPr>
            <a:r>
              <a:rPr sz="1100" b="1">
                <a:solidFill>
                  <a:srgbClr val="FFFFFF"/>
                </a:solidFill>
                <a:latin typeface="Calibri"/>
              </a:rPr>
              <a:t>PROPOSED · NOT BUILT</a:t>
            </a:r>
          </a:p>
        </p:txBody>
      </p:sp>
      <p:sp>
        <p:nvSpPr>
          <p:cNvPr id="5" name="TextBox 4"/>
          <p:cNvSpPr txBox="1"/>
          <p:nvPr/>
        </p:nvSpPr>
        <p:spPr>
          <a:xfrm>
            <a:off x="548640" y="1115568"/>
            <a:ext cx="11064240" cy="365760"/>
          </a:xfrm>
          <a:prstGeom prst="rect">
            <a:avLst/>
          </a:prstGeom>
          <a:noFill/>
        </p:spPr>
        <p:txBody>
          <a:bodyPr wrap="square" lIns="0" rIns="0" tIns="0" bIns="0" anchor="t">
            <a:spAutoFit/>
          </a:bodyPr>
          <a:lstStyle/>
          <a:p>
            <a:pPr>
              <a:spcAft>
                <a:spcPts val="300"/>
              </a:spcAft>
            </a:pPr>
            <a:r>
              <a:rPr sz="1500" b="0">
                <a:solidFill>
                  <a:srgbClr val="5B6B72"/>
                </a:solidFill>
                <a:latin typeface="Calibri"/>
              </a:rPr>
              <a:t>Today INFRA-AI covers India only. Here is what the same platform could do for the ten BRICS members.</a:t>
            </a:r>
          </a:p>
        </p:txBody>
      </p:sp>
      <p:pic>
        <p:nvPicPr>
          <p:cNvPr id="6" name="Picture 5" descr="image.png"/>
          <p:cNvPicPr>
            <a:picLocks noChangeAspect="1"/>
          </p:cNvPicPr>
          <p:nvPr/>
        </p:nvPicPr>
        <p:blipFill>
          <a:blip r:embed="rId3"/>
          <a:stretch>
            <a:fillRect/>
          </a:stretch>
        </p:blipFill>
        <p:spPr>
          <a:xfrm>
            <a:off x="548640" y="1645920"/>
            <a:ext cx="6035040" cy="2311884"/>
          </a:xfrm>
          <a:prstGeom prst="rect">
            <a:avLst/>
          </a:prstGeom>
        </p:spPr>
      </p:pic>
      <p:sp>
        <p:nvSpPr>
          <p:cNvPr id="7" name="Oval 6"/>
          <p:cNvSpPr/>
          <p:nvPr/>
        </p:nvSpPr>
        <p:spPr>
          <a:xfrm>
            <a:off x="548640" y="4049244"/>
            <a:ext cx="146304" cy="14630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4003524"/>
            <a:ext cx="2103120" cy="237744"/>
          </a:xfrm>
          <a:prstGeom prst="rect">
            <a:avLst/>
          </a:prstGeom>
          <a:noFill/>
        </p:spPr>
        <p:txBody>
          <a:bodyPr wrap="square" lIns="0" rIns="0" tIns="0" bIns="0" anchor="ctr">
            <a:spAutoFit/>
          </a:bodyPr>
          <a:lstStyle/>
          <a:p>
            <a:pPr>
              <a:spcAft>
                <a:spcPts val="300"/>
              </a:spcAft>
            </a:pPr>
            <a:r>
              <a:rPr sz="1100" b="0">
                <a:solidFill>
                  <a:srgbClr val="5B6B72"/>
                </a:solidFill>
                <a:latin typeface="Calibri"/>
              </a:rPr>
              <a:t>India: live today</a:t>
            </a:r>
          </a:p>
        </p:txBody>
      </p:sp>
      <p:sp>
        <p:nvSpPr>
          <p:cNvPr id="9" name="Oval 8"/>
          <p:cNvSpPr/>
          <p:nvPr/>
        </p:nvSpPr>
        <p:spPr>
          <a:xfrm>
            <a:off x="2148840" y="4049244"/>
            <a:ext cx="146304" cy="146304"/>
          </a:xfrm>
          <a:prstGeom prst="ellipse">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68296" y="4003524"/>
            <a:ext cx="2103120" cy="237744"/>
          </a:xfrm>
          <a:prstGeom prst="rect">
            <a:avLst/>
          </a:prstGeom>
          <a:noFill/>
        </p:spPr>
        <p:txBody>
          <a:bodyPr wrap="square" lIns="0" rIns="0" tIns="0" bIns="0" anchor="ctr">
            <a:spAutoFit/>
          </a:bodyPr>
          <a:lstStyle/>
          <a:p>
            <a:pPr>
              <a:spcAft>
                <a:spcPts val="300"/>
              </a:spcAft>
            </a:pPr>
            <a:r>
              <a:rPr sz="1100" b="0">
                <a:solidFill>
                  <a:srgbClr val="5B6B72"/>
                </a:solidFill>
                <a:latin typeface="Calibri"/>
              </a:rPr>
              <a:t>Other members: proposed</a:t>
            </a:r>
          </a:p>
        </p:txBody>
      </p:sp>
      <p:sp>
        <p:nvSpPr>
          <p:cNvPr id="11" name="Oval 10"/>
          <p:cNvSpPr/>
          <p:nvPr/>
        </p:nvSpPr>
        <p:spPr>
          <a:xfrm>
            <a:off x="4343400" y="4049244"/>
            <a:ext cx="146304" cy="146304"/>
          </a:xfrm>
          <a:prstGeom prst="ellipse">
            <a:avLst/>
          </a:prstGeom>
          <a:solidFill>
            <a:srgbClr val="D5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4003524"/>
            <a:ext cx="2103120" cy="237744"/>
          </a:xfrm>
          <a:prstGeom prst="rect">
            <a:avLst/>
          </a:prstGeom>
          <a:noFill/>
        </p:spPr>
        <p:txBody>
          <a:bodyPr wrap="square" lIns="0" rIns="0" tIns="0" bIns="0" anchor="ctr">
            <a:spAutoFit/>
          </a:bodyPr>
          <a:lstStyle/>
          <a:p>
            <a:pPr>
              <a:spcAft>
                <a:spcPts val="300"/>
              </a:spcAft>
            </a:pPr>
            <a:r>
              <a:rPr sz="1100" b="0">
                <a:solidFill>
                  <a:srgbClr val="5B6B72"/>
                </a:solidFill>
                <a:latin typeface="Calibri"/>
              </a:rPr>
              <a:t>Not in scope</a:t>
            </a:r>
          </a:p>
        </p:txBody>
      </p:sp>
      <p:sp>
        <p:nvSpPr>
          <p:cNvPr id="13" name="TextBox 12"/>
          <p:cNvSpPr txBox="1"/>
          <p:nvPr/>
        </p:nvSpPr>
        <p:spPr>
          <a:xfrm>
            <a:off x="6858000" y="1645920"/>
            <a:ext cx="4572000" cy="274320"/>
          </a:xfrm>
          <a:prstGeom prst="rect">
            <a:avLst/>
          </a:prstGeom>
          <a:noFill/>
        </p:spPr>
        <p:txBody>
          <a:bodyPr wrap="square" lIns="0" rIns="0" tIns="0" bIns="0" anchor="t">
            <a:spAutoFit/>
          </a:bodyPr>
          <a:lstStyle/>
          <a:p>
            <a:pPr>
              <a:spcAft>
                <a:spcPts val="300"/>
              </a:spcAft>
            </a:pPr>
            <a:r>
              <a:rPr sz="1100" b="1">
                <a:solidFill>
                  <a:srgbClr val="0B4F5C"/>
                </a:solidFill>
                <a:latin typeface="Calibri"/>
              </a:rPr>
              <a:t>MEMBERS AND MAIN LANGUAGES</a:t>
            </a:r>
          </a:p>
        </p:txBody>
      </p:sp>
      <p:sp>
        <p:nvSpPr>
          <p:cNvPr id="14" name="Rounded Rectangle 13"/>
          <p:cNvSpPr/>
          <p:nvPr/>
        </p:nvSpPr>
        <p:spPr>
          <a:xfrm>
            <a:off x="6858000" y="1965960"/>
            <a:ext cx="2286000" cy="365760"/>
          </a:xfrm>
          <a:prstGeom prst="roundRect">
            <a:avLst>
              <a:gd name="adj" fmla="val 25000"/>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1965960"/>
            <a:ext cx="2011680" cy="365760"/>
          </a:xfrm>
          <a:prstGeom prst="rect">
            <a:avLst/>
          </a:prstGeom>
          <a:noFill/>
        </p:spPr>
        <p:txBody>
          <a:bodyPr wrap="square" lIns="0" rIns="0" tIns="0" bIns="0" anchor="ctr">
            <a:spAutoFit/>
          </a:bodyPr>
          <a:lstStyle/>
          <a:p>
            <a:pPr>
              <a:spcAft>
                <a:spcPts val="300"/>
              </a:spcAft>
            </a:pPr>
            <a:r>
              <a:rPr sz="1200" b="1">
                <a:solidFill>
                  <a:srgbClr val="FFFFFF"/>
                </a:solidFill>
                <a:latin typeface="Calibri"/>
              </a:rPr>
              <a:t>India</a:t>
            </a:r>
          </a:p>
        </p:txBody>
      </p:sp>
      <p:sp>
        <p:nvSpPr>
          <p:cNvPr id="16" name="TextBox 15"/>
          <p:cNvSpPr txBox="1"/>
          <p:nvPr/>
        </p:nvSpPr>
        <p:spPr>
          <a:xfrm>
            <a:off x="6995160" y="1965960"/>
            <a:ext cx="2011680" cy="365760"/>
          </a:xfrm>
          <a:prstGeom prst="rect">
            <a:avLst/>
          </a:prstGeom>
          <a:noFill/>
        </p:spPr>
        <p:txBody>
          <a:bodyPr wrap="square" lIns="0" rIns="0" tIns="0" bIns="0" anchor="ctr">
            <a:spAutoFit/>
          </a:bodyPr>
          <a:lstStyle/>
          <a:p>
            <a:pPr algn="r">
              <a:spcAft>
                <a:spcPts val="300"/>
              </a:spcAft>
            </a:pPr>
            <a:r>
              <a:rPr sz="1100" b="0">
                <a:solidFill>
                  <a:srgbClr val="FFFFFF"/>
                </a:solidFill>
                <a:latin typeface="Calibri"/>
              </a:rPr>
              <a:t>Hindi, English +20</a:t>
            </a:r>
          </a:p>
        </p:txBody>
      </p:sp>
      <p:sp>
        <p:nvSpPr>
          <p:cNvPr id="17" name="Rounded Rectangle 16"/>
          <p:cNvSpPr/>
          <p:nvPr/>
        </p:nvSpPr>
        <p:spPr>
          <a:xfrm>
            <a:off x="9354312" y="1965960"/>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91472" y="1965960"/>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Brazil</a:t>
            </a:r>
          </a:p>
        </p:txBody>
      </p:sp>
      <p:sp>
        <p:nvSpPr>
          <p:cNvPr id="19" name="TextBox 18"/>
          <p:cNvSpPr txBox="1"/>
          <p:nvPr/>
        </p:nvSpPr>
        <p:spPr>
          <a:xfrm>
            <a:off x="9491472" y="1965960"/>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Portuguese</a:t>
            </a:r>
          </a:p>
        </p:txBody>
      </p:sp>
      <p:sp>
        <p:nvSpPr>
          <p:cNvPr id="20" name="Rounded Rectangle 19"/>
          <p:cNvSpPr/>
          <p:nvPr/>
        </p:nvSpPr>
        <p:spPr>
          <a:xfrm>
            <a:off x="6858000" y="2414015"/>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2414015"/>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Russia</a:t>
            </a:r>
          </a:p>
        </p:txBody>
      </p:sp>
      <p:sp>
        <p:nvSpPr>
          <p:cNvPr id="22" name="TextBox 21"/>
          <p:cNvSpPr txBox="1"/>
          <p:nvPr/>
        </p:nvSpPr>
        <p:spPr>
          <a:xfrm>
            <a:off x="6995160" y="2414015"/>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Russian</a:t>
            </a:r>
          </a:p>
        </p:txBody>
      </p:sp>
      <p:sp>
        <p:nvSpPr>
          <p:cNvPr id="23" name="Rounded Rectangle 22"/>
          <p:cNvSpPr/>
          <p:nvPr/>
        </p:nvSpPr>
        <p:spPr>
          <a:xfrm>
            <a:off x="9354312" y="2414015"/>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91472" y="2414015"/>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China</a:t>
            </a:r>
          </a:p>
        </p:txBody>
      </p:sp>
      <p:sp>
        <p:nvSpPr>
          <p:cNvPr id="25" name="TextBox 24"/>
          <p:cNvSpPr txBox="1"/>
          <p:nvPr/>
        </p:nvSpPr>
        <p:spPr>
          <a:xfrm>
            <a:off x="9491472" y="2414015"/>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Mandarin</a:t>
            </a:r>
          </a:p>
        </p:txBody>
      </p:sp>
      <p:sp>
        <p:nvSpPr>
          <p:cNvPr id="26" name="Rounded Rectangle 25"/>
          <p:cNvSpPr/>
          <p:nvPr/>
        </p:nvSpPr>
        <p:spPr>
          <a:xfrm>
            <a:off x="6858000" y="2862072"/>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5160" y="2862072"/>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South Africa</a:t>
            </a:r>
          </a:p>
        </p:txBody>
      </p:sp>
      <p:sp>
        <p:nvSpPr>
          <p:cNvPr id="28" name="TextBox 27"/>
          <p:cNvSpPr txBox="1"/>
          <p:nvPr/>
        </p:nvSpPr>
        <p:spPr>
          <a:xfrm>
            <a:off x="6995160" y="2862072"/>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English +10</a:t>
            </a:r>
          </a:p>
        </p:txBody>
      </p:sp>
      <p:sp>
        <p:nvSpPr>
          <p:cNvPr id="29" name="Rounded Rectangle 28"/>
          <p:cNvSpPr/>
          <p:nvPr/>
        </p:nvSpPr>
        <p:spPr>
          <a:xfrm>
            <a:off x="9354312" y="2862072"/>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91472" y="2862072"/>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Indonesia</a:t>
            </a:r>
          </a:p>
        </p:txBody>
      </p:sp>
      <p:sp>
        <p:nvSpPr>
          <p:cNvPr id="31" name="TextBox 30"/>
          <p:cNvSpPr txBox="1"/>
          <p:nvPr/>
        </p:nvSpPr>
        <p:spPr>
          <a:xfrm>
            <a:off x="9491472" y="2862072"/>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Bahasa</a:t>
            </a:r>
          </a:p>
        </p:txBody>
      </p:sp>
      <p:sp>
        <p:nvSpPr>
          <p:cNvPr id="32" name="Rounded Rectangle 31"/>
          <p:cNvSpPr/>
          <p:nvPr/>
        </p:nvSpPr>
        <p:spPr>
          <a:xfrm>
            <a:off x="6858000" y="3310128"/>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95160" y="3310128"/>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Egypt</a:t>
            </a:r>
          </a:p>
        </p:txBody>
      </p:sp>
      <p:sp>
        <p:nvSpPr>
          <p:cNvPr id="34" name="TextBox 33"/>
          <p:cNvSpPr txBox="1"/>
          <p:nvPr/>
        </p:nvSpPr>
        <p:spPr>
          <a:xfrm>
            <a:off x="6995160" y="3310128"/>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Arabic</a:t>
            </a:r>
          </a:p>
        </p:txBody>
      </p:sp>
      <p:sp>
        <p:nvSpPr>
          <p:cNvPr id="35" name="Rounded Rectangle 34"/>
          <p:cNvSpPr/>
          <p:nvPr/>
        </p:nvSpPr>
        <p:spPr>
          <a:xfrm>
            <a:off x="9354312" y="3310128"/>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91472" y="3310128"/>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Ethiopia</a:t>
            </a:r>
          </a:p>
        </p:txBody>
      </p:sp>
      <p:sp>
        <p:nvSpPr>
          <p:cNvPr id="37" name="TextBox 36"/>
          <p:cNvSpPr txBox="1"/>
          <p:nvPr/>
        </p:nvSpPr>
        <p:spPr>
          <a:xfrm>
            <a:off x="9491472" y="3310128"/>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Amharic</a:t>
            </a:r>
          </a:p>
        </p:txBody>
      </p:sp>
      <p:sp>
        <p:nvSpPr>
          <p:cNvPr id="38" name="Rounded Rectangle 37"/>
          <p:cNvSpPr/>
          <p:nvPr/>
        </p:nvSpPr>
        <p:spPr>
          <a:xfrm>
            <a:off x="6858000" y="3758183"/>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95160" y="3758183"/>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Iran</a:t>
            </a:r>
          </a:p>
        </p:txBody>
      </p:sp>
      <p:sp>
        <p:nvSpPr>
          <p:cNvPr id="40" name="TextBox 39"/>
          <p:cNvSpPr txBox="1"/>
          <p:nvPr/>
        </p:nvSpPr>
        <p:spPr>
          <a:xfrm>
            <a:off x="6995160" y="3758183"/>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Persian</a:t>
            </a:r>
          </a:p>
        </p:txBody>
      </p:sp>
      <p:sp>
        <p:nvSpPr>
          <p:cNvPr id="41" name="Rounded Rectangle 40"/>
          <p:cNvSpPr/>
          <p:nvPr/>
        </p:nvSpPr>
        <p:spPr>
          <a:xfrm>
            <a:off x="9354312" y="3758183"/>
            <a:ext cx="2286000" cy="365760"/>
          </a:xfrm>
          <a:prstGeom prst="roundRect">
            <a:avLst>
              <a:gd name="adj" fmla="val 25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472" y="3758183"/>
            <a:ext cx="2011680" cy="365760"/>
          </a:xfrm>
          <a:prstGeom prst="rect">
            <a:avLst/>
          </a:prstGeom>
          <a:noFill/>
        </p:spPr>
        <p:txBody>
          <a:bodyPr wrap="square" lIns="0" rIns="0" tIns="0" bIns="0" anchor="ctr">
            <a:spAutoFit/>
          </a:bodyPr>
          <a:lstStyle/>
          <a:p>
            <a:pPr>
              <a:spcAft>
                <a:spcPts val="300"/>
              </a:spcAft>
            </a:pPr>
            <a:r>
              <a:rPr sz="1200" b="1">
                <a:solidFill>
                  <a:srgbClr val="14232B"/>
                </a:solidFill>
                <a:latin typeface="Calibri"/>
              </a:rPr>
              <a:t>UAE</a:t>
            </a:r>
          </a:p>
        </p:txBody>
      </p:sp>
      <p:sp>
        <p:nvSpPr>
          <p:cNvPr id="43" name="TextBox 42"/>
          <p:cNvSpPr txBox="1"/>
          <p:nvPr/>
        </p:nvSpPr>
        <p:spPr>
          <a:xfrm>
            <a:off x="9491472" y="3758183"/>
            <a:ext cx="2011680" cy="365760"/>
          </a:xfrm>
          <a:prstGeom prst="rect">
            <a:avLst/>
          </a:prstGeom>
          <a:noFill/>
        </p:spPr>
        <p:txBody>
          <a:bodyPr wrap="square" lIns="0" rIns="0" tIns="0" bIns="0" anchor="ctr">
            <a:spAutoFit/>
          </a:bodyPr>
          <a:lstStyle/>
          <a:p>
            <a:pPr algn="r">
              <a:spcAft>
                <a:spcPts val="300"/>
              </a:spcAft>
            </a:pPr>
            <a:r>
              <a:rPr sz="1100" b="0">
                <a:solidFill>
                  <a:srgbClr val="5B6B72"/>
                </a:solidFill>
                <a:latin typeface="Calibri"/>
              </a:rPr>
              <a:t>Arabic</a:t>
            </a:r>
          </a:p>
        </p:txBody>
      </p:sp>
      <p:sp>
        <p:nvSpPr>
          <p:cNvPr id="44" name="Rounded Rectangle 43"/>
          <p:cNvSpPr/>
          <p:nvPr/>
        </p:nvSpPr>
        <p:spPr>
          <a:xfrm>
            <a:off x="548640" y="4343400"/>
            <a:ext cx="3566160" cy="1463040"/>
          </a:xfrm>
          <a:prstGeom prst="roundRect">
            <a:avLst>
              <a:gd name="adj" fmla="val 625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31520" y="4526280"/>
            <a:ext cx="128016" cy="128016"/>
          </a:xfrm>
          <a:prstGeom prst="ellipse">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0120" y="4434840"/>
            <a:ext cx="3017520" cy="310896"/>
          </a:xfrm>
          <a:prstGeom prst="rect">
            <a:avLst/>
          </a:prstGeom>
          <a:noFill/>
        </p:spPr>
        <p:txBody>
          <a:bodyPr wrap="square" lIns="0" rIns="0" tIns="0" bIns="0" anchor="ctr">
            <a:spAutoFit/>
          </a:bodyPr>
          <a:lstStyle/>
          <a:p>
            <a:pPr>
              <a:spcAft>
                <a:spcPts val="300"/>
              </a:spcAft>
            </a:pPr>
            <a:r>
              <a:rPr sz="1500" b="1">
                <a:solidFill>
                  <a:srgbClr val="14232B"/>
                </a:solidFill>
                <a:latin typeface="Cambria"/>
              </a:rPr>
              <a:t>Why it can travel</a:t>
            </a:r>
          </a:p>
        </p:txBody>
      </p:sp>
      <p:sp>
        <p:nvSpPr>
          <p:cNvPr id="47" name="TextBox 46"/>
          <p:cNvSpPr txBox="1"/>
          <p:nvPr/>
        </p:nvSpPr>
        <p:spPr>
          <a:xfrm>
            <a:off x="749808" y="4846320"/>
            <a:ext cx="3163824" cy="914400"/>
          </a:xfrm>
          <a:prstGeom prst="rect">
            <a:avLst/>
          </a:prstGeom>
          <a:noFill/>
        </p:spPr>
        <p:txBody>
          <a:bodyPr wrap="square" lIns="0" rIns="0" tIns="0" bIns="0" anchor="t">
            <a:spAutoFit/>
          </a:bodyPr>
          <a:lstStyle/>
          <a:p>
            <a:pPr marL="171450" indent="-171450">
              <a:spcAft>
                <a:spcPts val="300"/>
              </a:spcAft>
              <a:buChar char="•"/>
            </a:pPr>
            <a:r>
              <a:rPr sz="1200" b="0">
                <a:solidFill>
                  <a:srgbClr val="14232B"/>
                </a:solidFill>
                <a:latin typeface="Calibri"/>
              </a:rPr>
              <a:t>A new place is one config file</a:t>
            </a:r>
          </a:p>
          <a:p>
            <a:pPr marL="171450" indent="-171450">
              <a:spcAft>
                <a:spcPts val="300"/>
              </a:spcAft>
              <a:buChar char="•"/>
            </a:pPr>
            <a:r>
              <a:rPr sz="1200" b="0">
                <a:solidFill>
                  <a:srgbClr val="14232B"/>
                </a:solidFill>
                <a:latin typeface="Calibri"/>
              </a:rPr>
              <a:t>Global open data: OSM, WorldPop, GHSL</a:t>
            </a:r>
          </a:p>
          <a:p>
            <a:pPr marL="171450" indent="-171450">
              <a:spcAft>
                <a:spcPts val="300"/>
              </a:spcAft>
              <a:buChar char="•"/>
            </a:pPr>
            <a:r>
              <a:rPr sz="1200" b="0">
                <a:solidFill>
                  <a:srgbClr val="14232B"/>
                </a:solidFill>
                <a:latin typeface="Calibri"/>
              </a:rPr>
              <a:t>Open-source DPG; UI already has pt, ru, zh</a:t>
            </a:r>
          </a:p>
        </p:txBody>
      </p:sp>
      <p:sp>
        <p:nvSpPr>
          <p:cNvPr id="48" name="Rounded Rectangle 47"/>
          <p:cNvSpPr/>
          <p:nvPr/>
        </p:nvSpPr>
        <p:spPr>
          <a:xfrm>
            <a:off x="4311396" y="4343400"/>
            <a:ext cx="3566160" cy="1463040"/>
          </a:xfrm>
          <a:prstGeom prst="roundRect">
            <a:avLst>
              <a:gd name="adj" fmla="val 625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494276" y="4526280"/>
            <a:ext cx="128016" cy="128016"/>
          </a:xfrm>
          <a:prstGeom prst="ellipse">
            <a:avLst/>
          </a:prstGeom>
          <a:solidFill>
            <a:srgbClr val="0B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22876" y="4434840"/>
            <a:ext cx="3017520" cy="310896"/>
          </a:xfrm>
          <a:prstGeom prst="rect">
            <a:avLst/>
          </a:prstGeom>
          <a:noFill/>
        </p:spPr>
        <p:txBody>
          <a:bodyPr wrap="square" lIns="0" rIns="0" tIns="0" bIns="0" anchor="ctr">
            <a:spAutoFit/>
          </a:bodyPr>
          <a:lstStyle/>
          <a:p>
            <a:pPr>
              <a:spcAft>
                <a:spcPts val="300"/>
              </a:spcAft>
            </a:pPr>
            <a:r>
              <a:rPr sz="1500" b="1">
                <a:solidFill>
                  <a:srgbClr val="14232B"/>
                </a:solidFill>
                <a:latin typeface="Cambria"/>
              </a:rPr>
              <a:t>What we can do</a:t>
            </a:r>
          </a:p>
        </p:txBody>
      </p:sp>
      <p:sp>
        <p:nvSpPr>
          <p:cNvPr id="51" name="TextBox 50"/>
          <p:cNvSpPr txBox="1"/>
          <p:nvPr/>
        </p:nvSpPr>
        <p:spPr>
          <a:xfrm>
            <a:off x="4512564" y="4846320"/>
            <a:ext cx="3163824" cy="914400"/>
          </a:xfrm>
          <a:prstGeom prst="rect">
            <a:avLst/>
          </a:prstGeom>
          <a:noFill/>
        </p:spPr>
        <p:txBody>
          <a:bodyPr wrap="square" lIns="0" rIns="0" tIns="0" bIns="0" anchor="t">
            <a:spAutoFit/>
          </a:bodyPr>
          <a:lstStyle/>
          <a:p>
            <a:pPr marL="171450" indent="-171450">
              <a:spcAft>
                <a:spcPts val="300"/>
              </a:spcAft>
              <a:buChar char="•"/>
            </a:pPr>
            <a:r>
              <a:rPr sz="1200" b="0">
                <a:solidFill>
                  <a:srgbClr val="14232B"/>
                </a:solidFill>
                <a:latin typeface="Calibri"/>
              </a:rPr>
              <a:t>Pilot one city per member</a:t>
            </a:r>
          </a:p>
          <a:p>
            <a:pPr marL="171450" indent="-171450">
              <a:spcAft>
                <a:spcPts val="300"/>
              </a:spcAft>
              <a:buChar char="•"/>
            </a:pPr>
            <a:r>
              <a:rPr sz="1200" b="0">
                <a:solidFill>
                  <a:srgbClr val="14232B"/>
                </a:solidFill>
                <a:latin typeface="Calibri"/>
              </a:rPr>
              <a:t>Comparable access scores across countries</a:t>
            </a:r>
          </a:p>
          <a:p>
            <a:pPr marL="171450" indent="-171450">
              <a:spcAft>
                <a:spcPts val="300"/>
              </a:spcAft>
              <a:buChar char="•"/>
            </a:pPr>
            <a:r>
              <a:rPr sz="1200" b="0">
                <a:solidFill>
                  <a:srgbClr val="14232B"/>
                </a:solidFill>
                <a:latin typeface="Calibri"/>
              </a:rPr>
              <a:t>Voice and text intake in national languages</a:t>
            </a:r>
          </a:p>
        </p:txBody>
      </p:sp>
      <p:sp>
        <p:nvSpPr>
          <p:cNvPr id="52" name="Rounded Rectangle 51"/>
          <p:cNvSpPr/>
          <p:nvPr/>
        </p:nvSpPr>
        <p:spPr>
          <a:xfrm>
            <a:off x="8074152" y="4343400"/>
            <a:ext cx="3566160" cy="1463040"/>
          </a:xfrm>
          <a:prstGeom prst="roundRect">
            <a:avLst>
              <a:gd name="adj" fmla="val 625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257031" y="4526280"/>
            <a:ext cx="128016" cy="128016"/>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85632" y="4434840"/>
            <a:ext cx="3017520" cy="310896"/>
          </a:xfrm>
          <a:prstGeom prst="rect">
            <a:avLst/>
          </a:prstGeom>
          <a:noFill/>
        </p:spPr>
        <p:txBody>
          <a:bodyPr wrap="square" lIns="0" rIns="0" tIns="0" bIns="0" anchor="ctr">
            <a:spAutoFit/>
          </a:bodyPr>
          <a:lstStyle/>
          <a:p>
            <a:pPr>
              <a:spcAft>
                <a:spcPts val="300"/>
              </a:spcAft>
            </a:pPr>
            <a:r>
              <a:rPr sz="1500" b="1">
                <a:solidFill>
                  <a:srgbClr val="14232B"/>
                </a:solidFill>
                <a:latin typeface="Cambria"/>
              </a:rPr>
              <a:t>What we should do first</a:t>
            </a:r>
          </a:p>
        </p:txBody>
      </p:sp>
      <p:sp>
        <p:nvSpPr>
          <p:cNvPr id="55" name="TextBox 54"/>
          <p:cNvSpPr txBox="1"/>
          <p:nvPr/>
        </p:nvSpPr>
        <p:spPr>
          <a:xfrm>
            <a:off x="8275320" y="4846320"/>
            <a:ext cx="3163824" cy="914400"/>
          </a:xfrm>
          <a:prstGeom prst="rect">
            <a:avLst/>
          </a:prstGeom>
          <a:noFill/>
        </p:spPr>
        <p:txBody>
          <a:bodyPr wrap="square" lIns="0" rIns="0" tIns="0" bIns="0" anchor="t">
            <a:spAutoFit/>
          </a:bodyPr>
          <a:lstStyle/>
          <a:p>
            <a:pPr marL="171450" indent="-171450">
              <a:spcAft>
                <a:spcPts val="300"/>
              </a:spcAft>
              <a:buChar char="•"/>
            </a:pPr>
            <a:r>
              <a:rPr sz="1200" b="0">
                <a:solidFill>
                  <a:srgbClr val="14232B"/>
                </a:solidFill>
                <a:latin typeface="Calibri"/>
              </a:rPr>
              <a:t>Write an ADR: scope is India only today</a:t>
            </a:r>
          </a:p>
          <a:p>
            <a:pPr marL="171450" indent="-171450">
              <a:spcAft>
                <a:spcPts val="300"/>
              </a:spcAft>
              <a:buChar char="•"/>
            </a:pPr>
            <a:r>
              <a:rPr sz="1200" b="0">
                <a:solidFill>
                  <a:srgbClr val="14232B"/>
                </a:solidFill>
                <a:latin typeface="Calibri"/>
              </a:rPr>
              <a:t>Licences, boundaries, privacy law per country</a:t>
            </a:r>
          </a:p>
          <a:p>
            <a:pPr marL="171450" indent="-171450">
              <a:spcAft>
                <a:spcPts val="300"/>
              </a:spcAft>
              <a:buChar char="•"/>
            </a:pPr>
            <a:r>
              <a:rPr sz="1200" b="0">
                <a:solidFill>
                  <a:srgbClr val="14232B"/>
                </a:solidFill>
                <a:latin typeface="Calibri"/>
              </a:rPr>
              <a:t>Gold-set quality check per language</a:t>
            </a:r>
          </a:p>
        </p:txBody>
      </p:sp>
      <p:sp>
        <p:nvSpPr>
          <p:cNvPr id="56" name="TextBox 55"/>
          <p:cNvSpPr txBox="1"/>
          <p:nvPr/>
        </p:nvSpPr>
        <p:spPr>
          <a:xfrm>
            <a:off x="548640" y="5943600"/>
            <a:ext cx="11064240" cy="411480"/>
          </a:xfrm>
          <a:prstGeom prst="rect">
            <a:avLst/>
          </a:prstGeom>
          <a:noFill/>
        </p:spPr>
        <p:txBody>
          <a:bodyPr wrap="square" lIns="0" rIns="0" tIns="0" bIns="0" anchor="t">
            <a:spAutoFit/>
          </a:bodyPr>
          <a:lstStyle/>
          <a:p>
            <a:pPr>
              <a:spcAft>
                <a:spcPts val="300"/>
              </a:spcAft>
            </a:pPr>
            <a:r>
              <a:rPr sz="1000" b="0">
                <a:solidFill>
                  <a:srgbClr val="5B6B72"/>
                </a:solidFill>
                <a:latin typeface="Calibri"/>
              </a:rPr>
              <a:t>Borders: Natural Earth, India view; not the official Survey of India layer. Members as of 2025. Scores describe infrastructure, never rank countries. Nothing here is built yet.</a:t>
            </a:r>
          </a:p>
        </p:txBody>
      </p:sp>
      <p:sp>
        <p:nvSpPr>
          <p:cNvPr id="57" name="TextBox 56"/>
          <p:cNvSpPr txBox="1"/>
          <p:nvPr/>
        </p:nvSpPr>
        <p:spPr>
          <a:xfrm>
            <a:off x="548640" y="6446520"/>
            <a:ext cx="5486400" cy="274320"/>
          </a:xfrm>
          <a:prstGeom prst="rect">
            <a:avLst/>
          </a:prstGeom>
          <a:noFill/>
        </p:spPr>
        <p:txBody>
          <a:bodyPr wrap="square" lIns="0" rIns="0" tIns="0" bIns="0" anchor="t">
            <a:spAutoFit/>
          </a:bodyPr>
          <a:lstStyle/>
          <a:p>
            <a:pPr>
              <a:spcAft>
                <a:spcPts val="300"/>
              </a:spcAft>
            </a:pPr>
            <a:r>
              <a:rPr sz="1000" b="0">
                <a:solidFill>
                  <a:srgbClr val="5B6B72"/>
                </a:solidFill>
                <a:latin typeface="Calibri"/>
              </a:rPr>
              <a:t>INFRA-AI  ·  Digital Public Good</a:t>
            </a:r>
          </a:p>
        </p:txBody>
      </p:sp>
      <p:sp>
        <p:nvSpPr>
          <p:cNvPr id="58" name="TextBox 57"/>
          <p:cNvSpPr txBox="1"/>
          <p:nvPr/>
        </p:nvSpPr>
        <p:spPr>
          <a:xfrm>
            <a:off x="11091672" y="6446520"/>
            <a:ext cx="548640" cy="274320"/>
          </a:xfrm>
          <a:prstGeom prst="rect">
            <a:avLst/>
          </a:prstGeom>
          <a:noFill/>
        </p:spPr>
        <p:txBody>
          <a:bodyPr wrap="square" lIns="0" rIns="0" tIns="0" bIns="0" anchor="t">
            <a:spAutoFit/>
          </a:bodyPr>
          <a:lstStyle/>
          <a:p>
            <a:pPr algn="r">
              <a:spcAft>
                <a:spcPts val="300"/>
              </a:spcAft>
            </a:pPr>
            <a:r>
              <a:rPr sz="1000" b="0">
                <a:solidFill>
                  <a:srgbClr val="5B6B72"/>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72C34"/>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two fields to all of India</a:t>
            </a:r>
            <a:endParaRPr lang="en-US" sz="3400" dirty="0"/>
          </a:p>
        </p:txBody>
      </p:sp>
      <p:sp>
        <p:nvSpPr>
          <p:cNvPr id="3" name="Text 1"/>
          <p:cNvSpPr txBox="1"/>
          <p:nvPr/>
        </p:nvSpPr>
        <p:spPr>
          <a:xfrm>
            <a:off x="548640" y="1115568"/>
            <a:ext cx="11064240" cy="365760"/>
          </a:xfrm>
          <a:prstGeom prst="rect">
            <a:avLst/>
          </a:prstGeom>
          <a:noFill/>
          <a:ln/>
        </p:spPr>
        <p:txBody>
          <a:bodyPr wrap="square" lIns="0" tIns="0" rIns="0" bIns="0" rtlCol="0" anchor="ctr"/>
          <a:lstStyle/>
          <a:p>
            <a:pPr indent="0" marL="0">
              <a:buNone/>
            </a:pPr>
            <a:r>
              <a:rPr lang="en-US" sz="1500" dirty="0">
                <a:solidFill>
                  <a:srgbClr val="9FC3C9"/>
                </a:solidFill>
                <a:latin typeface="Calibri" pitchFamily="34" charset="0"/>
                <a:ea typeface="Calibri" pitchFamily="34" charset="-122"/>
                <a:cs typeface="Calibri" pitchFamily="34" charset="-120"/>
              </a:rPr>
              <a:t>Each field follows one template. Each new city is one config file.</a:t>
            </a:r>
            <a:endParaRPr lang="en-US" sz="1500" dirty="0"/>
          </a:p>
        </p:txBody>
      </p:sp>
      <p:sp>
        <p:nvSpPr>
          <p:cNvPr id="4" name="Shape 2"/>
          <p:cNvSpPr/>
          <p:nvPr/>
        </p:nvSpPr>
        <p:spPr>
          <a:xfrm>
            <a:off x="822960" y="2240280"/>
            <a:ext cx="10543032" cy="0"/>
          </a:xfrm>
          <a:prstGeom prst="line">
            <a:avLst/>
          </a:prstGeom>
          <a:noFill/>
          <a:ln w="25400">
            <a:solidFill>
              <a:srgbClr val="3C7A86"/>
            </a:solidFill>
            <a:prstDash val="solid"/>
          </a:ln>
        </p:spPr>
        <p:txBody>
          <a:bodyPr/>
          <a:p/>
        </p:txBody>
      </p:sp>
      <p:sp>
        <p:nvSpPr>
          <p:cNvPr id="5" name="Shape 3"/>
          <p:cNvSpPr/>
          <p:nvPr/>
        </p:nvSpPr>
        <p:spPr>
          <a:xfrm>
            <a:off x="548640" y="1965960"/>
            <a:ext cx="548640" cy="548640"/>
          </a:xfrm>
          <a:prstGeom prst="ellipse">
            <a:avLst/>
          </a:prstGeom>
          <a:solidFill>
            <a:srgbClr val="E08A1E"/>
          </a:solidFill>
          <a:ln w="25400">
            <a:solidFill>
              <a:srgbClr val="3C7A86"/>
            </a:solidFill>
            <a:prstDash val="solid"/>
          </a:ln>
        </p:spPr>
        <p:txBody>
          <a:bodyPr/>
          <a:p/>
        </p:txBody>
      </p:sp>
      <p:pic>
        <p:nvPicPr>
          <p:cNvPr id="6" name="Image 0" descr="preencoded.png">    </p:cNvPr>
          <p:cNvPicPr>
            <a:picLocks noChangeAspect="1"/>
          </p:cNvPicPr>
          <p:nvPr/>
        </p:nvPicPr>
        <p:blipFill>
          <a:blip r:embed="rId1"/>
          <a:stretch>
            <a:fillRect/>
          </a:stretch>
        </p:blipFill>
        <p:spPr>
          <a:xfrm>
            <a:off x="704088" y="2121408"/>
            <a:ext cx="237744" cy="237744"/>
          </a:xfrm>
          <a:prstGeom prst="rect">
            <a:avLst/>
          </a:prstGeom>
        </p:spPr>
      </p:pic>
      <p:sp>
        <p:nvSpPr>
          <p:cNvPr id="7" name="Text 4"/>
          <p:cNvSpPr txBox="1"/>
          <p:nvPr/>
        </p:nvSpPr>
        <p:spPr>
          <a:xfrm>
            <a:off x="1234440" y="2011680"/>
            <a:ext cx="1463040" cy="457200"/>
          </a:xfrm>
          <a:prstGeom prst="rect">
            <a:avLst/>
          </a:prstGeom>
          <a:noFill/>
          <a:ln/>
        </p:spPr>
        <p:txBody>
          <a:bodyPr wrap="square" lIns="0" tIns="0" rIns="0" bIns="0" rtlCol="0" anchor="ctr"/>
          <a:lstStyle/>
          <a:p>
            <a:pPr indent="0" marL="0">
              <a:buNone/>
            </a:pPr>
            <a:r>
              <a:rPr lang="en-US" sz="1200" b="1" spc="300" kern="0" dirty="0">
                <a:solidFill>
                  <a:srgbClr val="E08A1E"/>
                </a:solidFill>
                <a:latin typeface="Calibri" pitchFamily="34" charset="0"/>
                <a:ea typeface="Calibri" pitchFamily="34" charset="-122"/>
                <a:cs typeface="Calibri" pitchFamily="34" charset="-120"/>
              </a:rPr>
              <a:t>DONE</a:t>
            </a:r>
            <a:endParaRPr lang="en-US" sz="1200" dirty="0"/>
          </a:p>
        </p:txBody>
      </p:sp>
      <p:sp>
        <p:nvSpPr>
          <p:cNvPr id="8" name="Shape 5"/>
          <p:cNvSpPr/>
          <p:nvPr/>
        </p:nvSpPr>
        <p:spPr>
          <a:xfrm>
            <a:off x="548640" y="2743200"/>
            <a:ext cx="2567178" cy="1600200"/>
          </a:xfrm>
          <a:prstGeom prst="roundRect">
            <a:avLst>
              <a:gd name="adj" fmla="val 5714"/>
            </a:avLst>
          </a:prstGeom>
          <a:solidFill>
            <a:srgbClr val="0E3F49"/>
          </a:solidFill>
          <a:ln/>
        </p:spPr>
        <p:txBody>
          <a:bodyPr/>
          <a:p/>
        </p:txBody>
      </p:sp>
      <p:sp>
        <p:nvSpPr>
          <p:cNvPr id="9" name="Text 6"/>
          <p:cNvSpPr txBox="1"/>
          <p:nvPr/>
        </p:nvSpPr>
        <p:spPr>
          <a:xfrm>
            <a:off x="731520" y="2852928"/>
            <a:ext cx="2201418"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NH data + analysis</a:t>
            </a:r>
            <a:endParaRPr lang="en-US" sz="1500" dirty="0"/>
          </a:p>
        </p:txBody>
      </p:sp>
      <p:sp>
        <p:nvSpPr>
          <p:cNvPr id="10" name="Text 7"/>
          <p:cNvSpPr txBox="1"/>
          <p:nvPr/>
        </p:nvSpPr>
        <p:spPr>
          <a:xfrm>
            <a:off x="731520" y="3255264"/>
            <a:ext cx="2201418" cy="1005840"/>
          </a:xfrm>
          <a:prstGeom prst="rect">
            <a:avLst/>
          </a:prstGeom>
          <a:noFill/>
          <a:ln/>
        </p:spPr>
        <p:txBody>
          <a:bodyPr wrap="square" lIns="0" tIns="0" rIns="0" bIns="0" rtlCol="0" anchor="t"/>
          <a:lstStyle/>
          <a:p>
            <a:pPr indent="0" marL="0">
              <a:buNone/>
            </a:pPr>
            <a:r>
              <a:rPr lang="en-US" sz="1200" dirty="0">
                <a:solidFill>
                  <a:srgbClr val="CFE3E6"/>
                </a:solidFill>
                <a:latin typeface="Calibri" pitchFamily="34" charset="0"/>
                <a:ea typeface="Calibri" pitchFamily="34" charset="-122"/>
                <a:cs typeface="Calibri" pitchFamily="34" charset="-120"/>
              </a:rPr>
              <a:t>97.8% OSM coverage, first findings, delay flags, cited PIB events</a:t>
            </a:r>
            <a:endParaRPr lang="en-US" sz="1200" dirty="0"/>
          </a:p>
        </p:txBody>
      </p:sp>
      <p:sp>
        <p:nvSpPr>
          <p:cNvPr id="11" name="Shape 8"/>
          <p:cNvSpPr/>
          <p:nvPr/>
        </p:nvSpPr>
        <p:spPr>
          <a:xfrm>
            <a:off x="3390138" y="1965960"/>
            <a:ext cx="548640" cy="548640"/>
          </a:xfrm>
          <a:prstGeom prst="ellipse">
            <a:avLst/>
          </a:prstGeom>
          <a:solidFill>
            <a:srgbClr val="E08A1E"/>
          </a:solidFill>
          <a:ln w="25400">
            <a:solidFill>
              <a:srgbClr val="3C7A86"/>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3545586" y="2121408"/>
            <a:ext cx="237744" cy="237744"/>
          </a:xfrm>
          <a:prstGeom prst="rect">
            <a:avLst/>
          </a:prstGeom>
        </p:spPr>
      </p:pic>
      <p:sp>
        <p:nvSpPr>
          <p:cNvPr id="13" name="Text 9"/>
          <p:cNvSpPr txBox="1"/>
          <p:nvPr/>
        </p:nvSpPr>
        <p:spPr>
          <a:xfrm>
            <a:off x="4075938" y="2011680"/>
            <a:ext cx="1463040" cy="457200"/>
          </a:xfrm>
          <a:prstGeom prst="rect">
            <a:avLst/>
          </a:prstGeom>
          <a:noFill/>
          <a:ln/>
        </p:spPr>
        <p:txBody>
          <a:bodyPr wrap="square" lIns="0" tIns="0" rIns="0" bIns="0" rtlCol="0" anchor="ctr"/>
          <a:lstStyle/>
          <a:p>
            <a:pPr indent="0" marL="0">
              <a:buNone/>
            </a:pPr>
            <a:r>
              <a:rPr lang="en-US" sz="1200" b="1" spc="300" kern="0" dirty="0">
                <a:solidFill>
                  <a:srgbClr val="E08A1E"/>
                </a:solidFill>
                <a:latin typeface="Calibri" pitchFamily="34" charset="0"/>
                <a:ea typeface="Calibri" pitchFamily="34" charset="-122"/>
                <a:cs typeface="Calibri" pitchFamily="34" charset="-120"/>
              </a:rPr>
              <a:t>LIVE</a:t>
            </a:r>
            <a:endParaRPr lang="en-US" sz="1200" dirty="0"/>
          </a:p>
        </p:txBody>
      </p:sp>
      <p:sp>
        <p:nvSpPr>
          <p:cNvPr id="14" name="Shape 10"/>
          <p:cNvSpPr/>
          <p:nvPr/>
        </p:nvSpPr>
        <p:spPr>
          <a:xfrm>
            <a:off x="3390138" y="2743200"/>
            <a:ext cx="2567178" cy="1600200"/>
          </a:xfrm>
          <a:prstGeom prst="roundRect">
            <a:avLst>
              <a:gd name="adj" fmla="val 5714"/>
            </a:avLst>
          </a:prstGeom>
          <a:solidFill>
            <a:srgbClr val="0E3F49"/>
          </a:solidFill>
          <a:ln/>
        </p:spPr>
        <p:txBody>
          <a:bodyPr/>
          <a:p/>
        </p:txBody>
      </p:sp>
      <p:sp>
        <p:nvSpPr>
          <p:cNvPr id="15" name="Text 11"/>
          <p:cNvSpPr txBox="1"/>
          <p:nvPr/>
        </p:nvSpPr>
        <p:spPr>
          <a:xfrm>
            <a:off x="3573018" y="2852928"/>
            <a:ext cx="2201418"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Investor flow</a:t>
            </a:r>
            <a:endParaRPr lang="en-US" sz="1500" dirty="0"/>
          </a:p>
        </p:txBody>
      </p:sp>
      <p:sp>
        <p:nvSpPr>
          <p:cNvPr id="16" name="Text 12"/>
          <p:cNvSpPr txBox="1"/>
          <p:nvPr/>
        </p:nvSpPr>
        <p:spPr>
          <a:xfrm>
            <a:off x="3573018" y="3255264"/>
            <a:ext cx="2201418" cy="1005840"/>
          </a:xfrm>
          <a:prstGeom prst="rect">
            <a:avLst/>
          </a:prstGeom>
          <a:noFill/>
          <a:ln/>
        </p:spPr>
        <p:txBody>
          <a:bodyPr wrap="square" lIns="0" tIns="0" rIns="0" bIns="0" rtlCol="0" anchor="t"/>
          <a:lstStyle/>
          <a:p>
            <a:pPr indent="0" marL="0">
              <a:buNone/>
            </a:pPr>
            <a:r>
              <a:rPr lang="en-US" sz="1200" dirty="0">
                <a:solidFill>
                  <a:srgbClr val="CFE3E6"/>
                </a:solidFill>
                <a:latin typeface="Calibri" pitchFamily="34" charset="0"/>
                <a:ea typeface="Calibri" pitchFamily="34" charset="-122"/>
                <a:cs typeface="Calibri" pitchFamily="34" charset="-120"/>
              </a:rPr>
              <a:t>381 cities, Go API, onboarding and city pages</a:t>
            </a:r>
            <a:endParaRPr lang="en-US" sz="1200" dirty="0"/>
          </a:p>
        </p:txBody>
      </p:sp>
      <p:sp>
        <p:nvSpPr>
          <p:cNvPr id="17" name="Shape 13"/>
          <p:cNvSpPr/>
          <p:nvPr/>
        </p:nvSpPr>
        <p:spPr>
          <a:xfrm>
            <a:off x="6231636" y="1965960"/>
            <a:ext cx="548640" cy="548640"/>
          </a:xfrm>
          <a:prstGeom prst="ellipse">
            <a:avLst/>
          </a:prstGeom>
          <a:solidFill>
            <a:srgbClr val="0B4F5C"/>
          </a:solidFill>
          <a:ln w="25400">
            <a:solidFill>
              <a:srgbClr val="3C7A86"/>
            </a:solidFill>
            <a:prstDash val="solid"/>
          </a:ln>
        </p:spPr>
        <p:txBody>
          <a:bodyPr/>
          <a:p/>
        </p:txBody>
      </p:sp>
      <p:sp>
        <p:nvSpPr>
          <p:cNvPr id="18" name="Text 14"/>
          <p:cNvSpPr txBox="1"/>
          <p:nvPr/>
        </p:nvSpPr>
        <p:spPr>
          <a:xfrm>
            <a:off x="6917436" y="2011680"/>
            <a:ext cx="1463040" cy="457200"/>
          </a:xfrm>
          <a:prstGeom prst="rect">
            <a:avLst/>
          </a:prstGeom>
          <a:noFill/>
          <a:ln/>
        </p:spPr>
        <p:txBody>
          <a:bodyPr wrap="square" lIns="0" tIns="0" rIns="0" bIns="0" rtlCol="0" anchor="ctr"/>
          <a:lstStyle/>
          <a:p>
            <a:pPr indent="0" marL="0">
              <a:buNone/>
            </a:pPr>
            <a:r>
              <a:rPr lang="en-US" sz="1200" b="1" spc="300" kern="0" dirty="0">
                <a:solidFill>
                  <a:srgbClr val="9FC3C9"/>
                </a:solidFill>
                <a:latin typeface="Calibri" pitchFamily="34" charset="0"/>
                <a:ea typeface="Calibri" pitchFamily="34" charset="-122"/>
                <a:cs typeface="Calibri" pitchFamily="34" charset="-120"/>
              </a:rPr>
              <a:t>NEXT</a:t>
            </a:r>
            <a:endParaRPr lang="en-US" sz="1200" dirty="0"/>
          </a:p>
        </p:txBody>
      </p:sp>
      <p:sp>
        <p:nvSpPr>
          <p:cNvPr id="19" name="Shape 15"/>
          <p:cNvSpPr/>
          <p:nvPr/>
        </p:nvSpPr>
        <p:spPr>
          <a:xfrm>
            <a:off x="6231636" y="2743200"/>
            <a:ext cx="2567178" cy="1600200"/>
          </a:xfrm>
          <a:prstGeom prst="roundRect">
            <a:avLst>
              <a:gd name="adj" fmla="val 5714"/>
            </a:avLst>
          </a:prstGeom>
          <a:solidFill>
            <a:srgbClr val="0E3F49"/>
          </a:solidFill>
          <a:ln/>
        </p:spPr>
        <p:txBody>
          <a:bodyPr/>
          <a:p/>
        </p:txBody>
      </p:sp>
      <p:sp>
        <p:nvSpPr>
          <p:cNvPr id="20" name="Text 16"/>
          <p:cNvSpPr txBox="1"/>
          <p:nvPr/>
        </p:nvSpPr>
        <p:spPr>
          <a:xfrm>
            <a:off x="6414516" y="2852928"/>
            <a:ext cx="2201418"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M0 Foundation</a:t>
            </a:r>
            <a:endParaRPr lang="en-US" sz="1500" dirty="0"/>
          </a:p>
        </p:txBody>
      </p:sp>
      <p:sp>
        <p:nvSpPr>
          <p:cNvPr id="21" name="Text 17"/>
          <p:cNvSpPr txBox="1"/>
          <p:nvPr/>
        </p:nvSpPr>
        <p:spPr>
          <a:xfrm>
            <a:off x="6414516" y="3255264"/>
            <a:ext cx="2201418" cy="1005840"/>
          </a:xfrm>
          <a:prstGeom prst="rect">
            <a:avLst/>
          </a:prstGeom>
          <a:noFill/>
          <a:ln/>
        </p:spPr>
        <p:txBody>
          <a:bodyPr wrap="square" lIns="0" tIns="0" rIns="0" bIns="0" rtlCol="0" anchor="t"/>
          <a:lstStyle/>
          <a:p>
            <a:pPr indent="0" marL="0">
              <a:buNone/>
            </a:pPr>
            <a:r>
              <a:rPr lang="en-US" sz="1200" dirty="0">
                <a:solidFill>
                  <a:srgbClr val="CFE3E6"/>
                </a:solidFill>
                <a:latin typeface="Calibri" pitchFamily="34" charset="0"/>
                <a:ea typeface="Calibri" pitchFamily="34" charset="-122"/>
                <a:cs typeface="Calibri" pitchFamily="34" charset="-120"/>
              </a:rPr>
              <a:t>Postgres DB, API, UI shell, citizen intake</a:t>
            </a:r>
            <a:endParaRPr lang="en-US" sz="1200" dirty="0"/>
          </a:p>
        </p:txBody>
      </p:sp>
      <p:sp>
        <p:nvSpPr>
          <p:cNvPr id="22" name="Shape 18"/>
          <p:cNvSpPr/>
          <p:nvPr/>
        </p:nvSpPr>
        <p:spPr>
          <a:xfrm>
            <a:off x="9073134" y="1965960"/>
            <a:ext cx="548640" cy="548640"/>
          </a:xfrm>
          <a:prstGeom prst="ellipse">
            <a:avLst/>
          </a:prstGeom>
          <a:solidFill>
            <a:srgbClr val="0B4F5C"/>
          </a:solidFill>
          <a:ln w="25400">
            <a:solidFill>
              <a:srgbClr val="3C7A86"/>
            </a:solidFill>
            <a:prstDash val="solid"/>
          </a:ln>
        </p:spPr>
        <p:txBody>
          <a:bodyPr/>
          <a:p/>
        </p:txBody>
      </p:sp>
      <p:sp>
        <p:nvSpPr>
          <p:cNvPr id="23" name="Text 19"/>
          <p:cNvSpPr txBox="1"/>
          <p:nvPr/>
        </p:nvSpPr>
        <p:spPr>
          <a:xfrm>
            <a:off x="9758934" y="2011680"/>
            <a:ext cx="1463040" cy="457200"/>
          </a:xfrm>
          <a:prstGeom prst="rect">
            <a:avLst/>
          </a:prstGeom>
          <a:noFill/>
          <a:ln/>
        </p:spPr>
        <p:txBody>
          <a:bodyPr wrap="square" lIns="0" tIns="0" rIns="0" bIns="0" rtlCol="0" anchor="ctr"/>
          <a:lstStyle/>
          <a:p>
            <a:pPr indent="0" marL="0">
              <a:buNone/>
            </a:pPr>
            <a:r>
              <a:rPr lang="en-US" sz="1200" b="1" spc="300" kern="0" dirty="0">
                <a:solidFill>
                  <a:srgbClr val="9FC3C9"/>
                </a:solidFill>
                <a:latin typeface="Calibri" pitchFamily="34" charset="0"/>
                <a:ea typeface="Calibri" pitchFamily="34" charset="-122"/>
                <a:cs typeface="Calibri" pitchFamily="34" charset="-120"/>
              </a:rPr>
              <a:t>THEN</a:t>
            </a:r>
            <a:endParaRPr lang="en-US" sz="1200" dirty="0"/>
          </a:p>
        </p:txBody>
      </p:sp>
      <p:sp>
        <p:nvSpPr>
          <p:cNvPr id="24" name="Shape 20"/>
          <p:cNvSpPr/>
          <p:nvPr/>
        </p:nvSpPr>
        <p:spPr>
          <a:xfrm>
            <a:off x="9073134" y="2743200"/>
            <a:ext cx="2567178" cy="1600200"/>
          </a:xfrm>
          <a:prstGeom prst="roundRect">
            <a:avLst>
              <a:gd name="adj" fmla="val 5714"/>
            </a:avLst>
          </a:prstGeom>
          <a:solidFill>
            <a:srgbClr val="0E3F49"/>
          </a:solidFill>
          <a:ln/>
        </p:spPr>
        <p:txBody>
          <a:bodyPr/>
          <a:p/>
        </p:txBody>
      </p:sp>
      <p:sp>
        <p:nvSpPr>
          <p:cNvPr id="25" name="Text 21"/>
          <p:cNvSpPr txBox="1"/>
          <p:nvPr/>
        </p:nvSpPr>
        <p:spPr>
          <a:xfrm>
            <a:off x="9256014" y="2852928"/>
            <a:ext cx="2201418"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Metro + more fields</a:t>
            </a:r>
            <a:endParaRPr lang="en-US" sz="1500" dirty="0"/>
          </a:p>
        </p:txBody>
      </p:sp>
      <p:sp>
        <p:nvSpPr>
          <p:cNvPr id="26" name="Text 22"/>
          <p:cNvSpPr txBox="1"/>
          <p:nvPr/>
        </p:nvSpPr>
        <p:spPr>
          <a:xfrm>
            <a:off x="9256014" y="3255264"/>
            <a:ext cx="2201418" cy="1005840"/>
          </a:xfrm>
          <a:prstGeom prst="rect">
            <a:avLst/>
          </a:prstGeom>
          <a:noFill/>
          <a:ln/>
        </p:spPr>
        <p:txBody>
          <a:bodyPr wrap="square" lIns="0" tIns="0" rIns="0" bIns="0" rtlCol="0" anchor="t"/>
          <a:lstStyle/>
          <a:p>
            <a:pPr indent="0" marL="0">
              <a:buNone/>
            </a:pPr>
            <a:r>
              <a:rPr lang="en-US" sz="1200" dirty="0">
                <a:solidFill>
                  <a:srgbClr val="CFE3E6"/>
                </a:solidFill>
                <a:latin typeface="Calibri" pitchFamily="34" charset="0"/>
                <a:ea typeface="Calibri" pitchFamily="34" charset="-122"/>
                <a:cs typeface="Calibri" pitchFamily="34" charset="-120"/>
              </a:rPr>
              <a:t>Metro, railways, airports, water — one at a time</a:t>
            </a:r>
            <a:endParaRPr lang="en-US" sz="1200" dirty="0"/>
          </a:p>
        </p:txBody>
      </p:sp>
      <p:sp>
        <p:nvSpPr>
          <p:cNvPr id="27" name="Text 23"/>
          <p:cNvSpPr txBox="1"/>
          <p:nvPr/>
        </p:nvSpPr>
        <p:spPr>
          <a:xfrm>
            <a:off x="548640" y="4663440"/>
            <a:ext cx="5029200" cy="274320"/>
          </a:xfrm>
          <a:prstGeom prst="rect">
            <a:avLst/>
          </a:prstGeom>
          <a:noFill/>
          <a:ln/>
        </p:spPr>
        <p:txBody>
          <a:bodyPr wrap="square" lIns="0" tIns="0" rIns="0" bIns="0" rtlCol="0" anchor="ctr"/>
          <a:lstStyle/>
          <a:p>
            <a:pPr indent="0" marL="0">
              <a:buNone/>
            </a:pPr>
            <a:r>
              <a:rPr lang="en-US" sz="1200" b="1" spc="300" kern="0" dirty="0">
                <a:solidFill>
                  <a:srgbClr val="E08A1E"/>
                </a:solidFill>
                <a:latin typeface="Calibri" pitchFamily="34" charset="0"/>
                <a:ea typeface="Calibri" pitchFamily="34" charset="-122"/>
                <a:cs typeface="Calibri" pitchFamily="34" charset="-120"/>
              </a:rPr>
              <a:t>WHO BENEFITS</a:t>
            </a:r>
            <a:endParaRPr lang="en-US" sz="1200" dirty="0"/>
          </a:p>
        </p:txBody>
      </p:sp>
      <p:sp>
        <p:nvSpPr>
          <p:cNvPr id="28" name="Text 24"/>
          <p:cNvSpPr txBox="1"/>
          <p:nvPr/>
        </p:nvSpPr>
        <p:spPr>
          <a:xfrm>
            <a:off x="548640" y="4983480"/>
            <a:ext cx="5669280" cy="1325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Citizens: report a need by voice, in their language; see what is coming nearby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Policymakers: ranked, evidence-backed priorities; spending-versus-need view</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Investors and journalists: cited timelines, delays and growth drivers</a:t>
            </a:r>
            <a:endParaRPr lang="en-US" sz="1200" dirty="0"/>
          </a:p>
        </p:txBody>
      </p:sp>
      <p:sp>
        <p:nvSpPr>
          <p:cNvPr id="29" name="Shape 25"/>
          <p:cNvSpPr/>
          <p:nvPr/>
        </p:nvSpPr>
        <p:spPr>
          <a:xfrm>
            <a:off x="6492240" y="4617720"/>
            <a:ext cx="5148072" cy="1691640"/>
          </a:xfrm>
          <a:prstGeom prst="roundRect">
            <a:avLst>
              <a:gd name="adj" fmla="val 6486"/>
            </a:avLst>
          </a:prstGeom>
          <a:solidFill>
            <a:srgbClr val="E08A1E"/>
          </a:solidFill>
          <a:ln/>
        </p:spPr>
        <p:txBody>
          <a:bodyPr/>
          <a:p/>
        </p:txBody>
      </p:sp>
      <p:sp>
        <p:nvSpPr>
          <p:cNvPr id="30" name="Text 26"/>
          <p:cNvSpPr txBox="1"/>
          <p:nvPr/>
        </p:nvSpPr>
        <p:spPr>
          <a:xfrm>
            <a:off x="6720840" y="4727448"/>
            <a:ext cx="46634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we need next</a:t>
            </a:r>
            <a:endParaRPr lang="en-US" sz="1600" dirty="0"/>
          </a:p>
        </p:txBody>
      </p:sp>
      <p:sp>
        <p:nvSpPr>
          <p:cNvPr id="31" name="Text 27"/>
          <p:cNvSpPr txBox="1"/>
          <p:nvPr/>
        </p:nvSpPr>
        <p:spPr>
          <a:xfrm>
            <a:off x="6720840" y="5093208"/>
            <a:ext cx="4663440" cy="11430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Access to PM GatiShakti data</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 pilot state or city partner</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Bhashini API access for 22-language intake</a:t>
            </a:r>
            <a:endParaRPr lang="en-US" sz="1300" dirty="0"/>
          </a:p>
        </p:txBody>
      </p:sp>
      <p:sp>
        <p:nvSpPr>
          <p:cNvPr id="32" name="Text 2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A9B0"/>
                </a:solidFill>
                <a:latin typeface="Calibri" pitchFamily="34" charset="0"/>
                <a:ea typeface="Calibri" pitchFamily="34" charset="-122"/>
                <a:cs typeface="Calibri" pitchFamily="34" charset="-120"/>
              </a:rPr>
              <a:t>INFRA-AI  ·  Digital Public Good</a:t>
            </a:r>
            <a:endParaRPr lang="en-US" sz="1000" dirty="0"/>
          </a:p>
        </p:txBody>
      </p:sp>
      <p:sp>
        <p:nvSpPr>
          <p:cNvPr id="33" name="Text 29"/>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7FA9B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INFRA-AI</dc:title>
  <dc:subject>PptxGenJS Presentation</dc:subject>
  <dc:creator>PptxGenJS</dc:creator>
  <cp:lastModifiedBy>PptxGenJS</cp:lastModifiedBy>
  <cp:revision>1</cp:revision>
  <dcterms:created xsi:type="dcterms:W3CDTF">2026-09-30T16:47:58Z</dcterms:created>
  <dcterms:modified xsi:type="dcterms:W3CDTF">2026-09-30T16:47:58Z</dcterms:modified>
</cp:coreProperties>
</file>