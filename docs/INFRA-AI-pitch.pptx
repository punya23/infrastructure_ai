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INFRA-AI: a multilingual, location-first infrastructure intelligence platform built as a Digital Public Good. Screenshot is the running app, not a mockup. Stats: 1,42,905 km NH mapped from OSM (97.8% of official length); 381 cities scored; 22 scheduled languages targeted via Bhashini / AI4Bharat.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statement: requests are fragmented across systems and languages; spending drifts from need; impact of large programmes is not measured. Right panel is real analysis: 99,931 of 1,36,758 km NHAI length is &lt;=2 lanes; 264 of 388 NHAI projects under construction are overdue; NH deaths 50,251 (2020) to 64,772 (2024).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Location-first is the angle: every dataset keyed to an H3 hexagon and a time. Analytics are config-weighted sums with stored drivers (ADR-0003) — no predictive model. LLMs only read and structure text; briefs cite fact ids (ADR-0008). Growth outlook is informational, never investment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NH Explorer with real OSM network plus NHAI toll plazas. Top right: Policymaker View with state-wise length, OSM coverage, deaths per 100 km, tolls and traffic counts, CSV export. Bottom right: investor flow landing page — cities ranked, every score shows its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across data, technology, legal/privacy and delivery. Honest risks: NHAI GeoServer data has no stated licence (ADR-0014); OSM lags official openings. Invariants: provenance on everything, fail closed, AI never originates facts, explainable analytics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Milestones follow README section 13 and AGENTS.md status: NH M1/M2 done, M3 half done; investor flow landed ahead of M0; M0 is next. Asks are taken from the plan: GatiShakti access is listed as restricted and needs organizer help; Bhashini for the language stack; a pilot partner for real citizen intake.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194560"/>
            <a:ext cx="6400800" cy="6400800"/>
          </a:xfrm>
          <a:prstGeom prst="ellipse">
            <a:avLst/>
          </a:prstGeom>
          <a:solidFill>
            <a:srgbClr val="0B4F5C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DIGITAL PUBLIC GOOD  ·  INDIA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INFRA-AI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any place in India. See what was built, what is coming, and what people are asking for — every claim cited.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709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1,42,905 km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highways mapped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4709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5257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scored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709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5257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targeted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1463040"/>
            <a:ext cx="5257800" cy="3304858"/>
          </a:xfrm>
          <a:prstGeom prst="roundRect">
            <a:avLst>
              <a:gd name="adj" fmla="val 2213"/>
            </a:avLst>
          </a:prstGeom>
          <a:solidFill>
            <a:srgbClr val="FFFFFF"/>
          </a:solidFill>
          <a:ln w="9525">
            <a:solidFill>
              <a:srgbClr val="D5E1E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28816" y="1554480"/>
            <a:ext cx="91440" cy="91440"/>
          </a:xfrm>
          <a:prstGeom prst="ellipse">
            <a:avLst/>
          </a:prstGeom>
          <a:solidFill>
            <a:srgbClr val="E5736A"/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0" y="1554480"/>
            <a:ext cx="91440" cy="9144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15" name="Shape 13"/>
          <p:cNvSpPr/>
          <p:nvPr/>
        </p:nvSpPr>
        <p:spPr>
          <a:xfrm>
            <a:off x="6821424" y="1554480"/>
            <a:ext cx="91440" cy="91440"/>
          </a:xfrm>
          <a:prstGeom prst="ellipse">
            <a:avLst/>
          </a:prstGeom>
          <a:solidFill>
            <a:srgbClr val="6BBF7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40880" y="14630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infra-ai  ·  Explore your area</a:t>
            </a:r>
            <a:endParaRPr lang="en-US" sz="1000" dirty="0"/>
          </a:p>
        </p:txBody>
      </p:sp>
      <p:pic>
        <p:nvPicPr>
          <p:cNvPr id="17" name="Image 0" descr="/private/tmp/claude-501/-Users-punyasurana-Documents-INFRA-AI--claude-worktrees-six-slide-ppt-design-4aa896/0e2d93fe-4185-4348-bf6f-e59616f7d1d3/scratchpad/shots/c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88" y="1737360"/>
            <a:ext cx="5221224" cy="301225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Location-first infrastructure intelligence · Problem · Solution · Feasibility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data is scattered — so needs go unseen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requests, plans and spending live in separate systems and languages. Nobody sees one place whole.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14884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rgbClr val="0B4F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1762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6243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apps &amp; OSM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71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exists. Miss history, plans, project status.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03220" y="1874520"/>
            <a:ext cx="214884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10" name="Shape 7"/>
          <p:cNvSpPr/>
          <p:nvPr/>
        </p:nvSpPr>
        <p:spPr>
          <a:xfrm>
            <a:off x="3086100" y="2057400"/>
            <a:ext cx="457200" cy="457200"/>
          </a:xfrm>
          <a:prstGeom prst="ellipse">
            <a:avLst/>
          </a:prstGeom>
          <a:solidFill>
            <a:srgbClr val="0B4F5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972" y="21762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86100" y="26243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PDFs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086100" y="2971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agency shows its own projects. No common map.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257800" y="1874520"/>
            <a:ext cx="214884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15" name="Shape 11"/>
          <p:cNvSpPr/>
          <p:nvPr/>
        </p:nvSpPr>
        <p:spPr>
          <a:xfrm>
            <a:off x="5440680" y="2057400"/>
            <a:ext cx="457200" cy="457200"/>
          </a:xfrm>
          <a:prstGeom prst="ellipse">
            <a:avLst/>
          </a:prstGeom>
          <a:solidFill>
            <a:srgbClr val="0B4F5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552" y="21762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440680" y="26243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portals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40680" y="2971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signal of new work. No plain-language meaning, no location.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114800"/>
            <a:ext cx="214884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20" name="Shape 15"/>
          <p:cNvSpPr/>
          <p:nvPr/>
        </p:nvSpPr>
        <p:spPr>
          <a:xfrm>
            <a:off x="731520" y="4297680"/>
            <a:ext cx="457200" cy="457200"/>
          </a:xfrm>
          <a:prstGeom prst="ellipse">
            <a:avLst/>
          </a:prstGeom>
          <a:solidFill>
            <a:srgbClr val="0B4F5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41655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" y="48646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&amp; releases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31520" y="52120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 and delays. No reliability check, no timeline.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903220" y="4114800"/>
            <a:ext cx="214884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25" name="Shape 19"/>
          <p:cNvSpPr/>
          <p:nvPr/>
        </p:nvSpPr>
        <p:spPr>
          <a:xfrm>
            <a:off x="3086100" y="4297680"/>
            <a:ext cx="457200" cy="457200"/>
          </a:xfrm>
          <a:prstGeom prst="ellipse">
            <a:avLst/>
          </a:prstGeom>
          <a:solidFill>
            <a:srgbClr val="0B4F5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972" y="4416552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086100" y="48646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Grievance portals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3086100" y="52120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complaints. Never added up into demand.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257800" y="4114800"/>
            <a:ext cx="214884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30" name="Shape 23"/>
          <p:cNvSpPr/>
          <p:nvPr/>
        </p:nvSpPr>
        <p:spPr>
          <a:xfrm>
            <a:off x="5440680" y="4297680"/>
            <a:ext cx="457200" cy="457200"/>
          </a:xfrm>
          <a:prstGeom prst="ellipse">
            <a:avLst/>
          </a:prstGeom>
          <a:solidFill>
            <a:srgbClr val="0B4F5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552" y="4416552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440680" y="48646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&amp; satellite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5440680" y="52120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lives where. Not linked to any of the above.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7818120" y="1874520"/>
            <a:ext cx="3822192" cy="4297680"/>
          </a:xfrm>
          <a:prstGeom prst="roundRect">
            <a:avLst>
              <a:gd name="adj" fmla="val 2871"/>
            </a:avLst>
          </a:prstGeom>
          <a:solidFill>
            <a:srgbClr val="072C34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804672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gaps cost — national highways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80467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400" dirty="0"/>
          </a:p>
        </p:txBody>
      </p:sp>
      <p:sp>
        <p:nvSpPr>
          <p:cNvPr id="37" name="Text 29"/>
          <p:cNvSpPr txBox="1"/>
          <p:nvPr/>
        </p:nvSpPr>
        <p:spPr>
          <a:xfrm>
            <a:off x="8046720" y="3017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NH length is two lanes or fewer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8046720" y="3703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400" dirty="0"/>
          </a:p>
        </p:txBody>
      </p:sp>
      <p:sp>
        <p:nvSpPr>
          <p:cNvPr id="39" name="Text 31"/>
          <p:cNvSpPr txBox="1"/>
          <p:nvPr/>
        </p:nvSpPr>
        <p:spPr>
          <a:xfrm>
            <a:off x="8046720" y="42519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NHAI projects under construction are past schedule — median 19 months late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804672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64,772</a:t>
            </a:r>
            <a:endParaRPr lang="en-US" sz="3400" dirty="0"/>
          </a:p>
        </p:txBody>
      </p:sp>
      <p:sp>
        <p:nvSpPr>
          <p:cNvPr id="41" name="Text 33"/>
          <p:cNvSpPr txBox="1"/>
          <p:nvPr/>
        </p:nvSpPr>
        <p:spPr>
          <a:xfrm>
            <a:off x="8046720" y="54864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on national highways in 2024, rising every year since 2020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548640" y="626364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NHAI Datalake layer, MoRTH Road Accidents in India 2024; INFRA-AI analysis as of 2026-09-29.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INFRA-AI  ·  Digital Public Good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pin answers five 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every dataset by place and time — then let people in any language ask, and policymakers act.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here?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4436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Roads, metro, rail, hospitals, schools — public and private.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07208" y="1783080"/>
            <a:ext cx="205740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10" name="Shape 8"/>
          <p:cNvSpPr/>
          <p:nvPr/>
        </p:nvSpPr>
        <p:spPr>
          <a:xfrm>
            <a:off x="2990088" y="1965960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008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294436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of built-up and night-light growth.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65776" y="1783080"/>
            <a:ext cx="205740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15" name="Shape 13"/>
          <p:cNvSpPr/>
          <p:nvPr/>
        </p:nvSpPr>
        <p:spPr>
          <a:xfrm>
            <a:off x="5248656" y="1965960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48656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248656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coming?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8656" y="294436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construction, approved, announced — cited, with confidence.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24344" y="1783080"/>
            <a:ext cx="205740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20" name="Shape 18"/>
          <p:cNvSpPr/>
          <p:nvPr/>
        </p:nvSpPr>
        <p:spPr>
          <a:xfrm>
            <a:off x="7507224" y="1965960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07224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507224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need?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07224" y="294436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by voice or text, deduplicated into issues.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82912" y="1783080"/>
            <a:ext cx="2057400" cy="2057400"/>
          </a:xfrm>
          <a:prstGeom prst="roundRect">
            <a:avLst>
              <a:gd name="adj" fmla="val 4444"/>
            </a:avLst>
          </a:prstGeom>
          <a:solidFill>
            <a:srgbClr val="EAF2F3"/>
          </a:solidFill>
          <a:ln/>
        </p:spPr>
      </p:sp>
      <p:sp>
        <p:nvSpPr>
          <p:cNvPr id="25" name="Shape 23"/>
          <p:cNvSpPr/>
          <p:nvPr/>
        </p:nvSpPr>
        <p:spPr>
          <a:xfrm>
            <a:off x="9765792" y="1965960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65792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765792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765792" y="294436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Gaps, ranked priorities and a growth outlook.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B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4572000"/>
            <a:ext cx="1998878" cy="1600200"/>
          </a:xfrm>
          <a:prstGeom prst="roundRect">
            <a:avLst>
              <a:gd name="adj" fmla="val 5714"/>
            </a:avLst>
          </a:prstGeom>
          <a:solidFill>
            <a:srgbClr val="0B4F5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4681728"/>
            <a:ext cx="1724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074920"/>
            <a:ext cx="17245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OSM, MoRTH, PIB, WorldPop, GHSL, tenders, news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547518" y="50749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4" name="Shape 32"/>
          <p:cNvSpPr/>
          <p:nvPr/>
        </p:nvSpPr>
        <p:spPr>
          <a:xfrm>
            <a:off x="2821838" y="4572000"/>
            <a:ext cx="1998878" cy="1600200"/>
          </a:xfrm>
          <a:prstGeom prst="roundRect">
            <a:avLst>
              <a:gd name="adj" fmla="val 5714"/>
            </a:avLst>
          </a:prstGeom>
          <a:solidFill>
            <a:srgbClr val="0B4F5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958998" y="4681728"/>
            <a:ext cx="1724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H3 grid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958998" y="5074920"/>
            <a:ext cx="17245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joined in Postgres / PostGIS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820717" y="50749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5095037" y="4572000"/>
            <a:ext cx="1998878" cy="1600200"/>
          </a:xfrm>
          <a:prstGeom prst="roundRect">
            <a:avLst>
              <a:gd name="adj" fmla="val 5714"/>
            </a:avLst>
          </a:prstGeom>
          <a:solidFill>
            <a:srgbClr val="0B4F5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232197" y="4681728"/>
            <a:ext cx="1724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scores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232197" y="5074920"/>
            <a:ext cx="17245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sums of facts, drivers stored. No black box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093915" y="50749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2" name="Shape 40"/>
          <p:cNvSpPr/>
          <p:nvPr/>
        </p:nvSpPr>
        <p:spPr>
          <a:xfrm>
            <a:off x="7368235" y="4572000"/>
            <a:ext cx="1998878" cy="1600200"/>
          </a:xfrm>
          <a:prstGeom prst="roundRect">
            <a:avLst>
              <a:gd name="adj" fmla="val 5714"/>
            </a:avLst>
          </a:prstGeom>
          <a:solidFill>
            <a:srgbClr val="0B4F5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505395" y="4681728"/>
            <a:ext cx="1724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AI briefs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505395" y="5074920"/>
            <a:ext cx="17245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need a verbatim evidence quote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67114" y="50749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46" name="Shape 44"/>
          <p:cNvSpPr/>
          <p:nvPr/>
        </p:nvSpPr>
        <p:spPr>
          <a:xfrm>
            <a:off x="9641434" y="4572000"/>
            <a:ext cx="1998878" cy="1600200"/>
          </a:xfrm>
          <a:prstGeom prst="roundRect">
            <a:avLst>
              <a:gd name="adj" fmla="val 5714"/>
            </a:avLst>
          </a:prstGeom>
          <a:solidFill>
            <a:srgbClr val="E08A1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778594" y="4681728"/>
            <a:ext cx="17245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audiences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9778594" y="5074920"/>
            <a:ext cx="17245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· policymaker · investor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INFRA-AI  ·  Digital Public Good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today — on real data, not mockups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03720" cy="4589145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D5E1E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463040"/>
            <a:ext cx="91440" cy="91440"/>
          </a:xfrm>
          <a:prstGeom prst="ellipse">
            <a:avLst/>
          </a:prstGeom>
          <a:solidFill>
            <a:srgbClr val="E5736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463040"/>
            <a:ext cx="91440" cy="9144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" y="1463040"/>
            <a:ext cx="91440" cy="91440"/>
          </a:xfrm>
          <a:prstGeom prst="ellipse">
            <a:avLst/>
          </a:prstGeom>
          <a:solidFill>
            <a:srgbClr val="6BBF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13716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 Explorer  ·  1,42,905 km of national highways, toll plazas, public transport</a:t>
            </a:r>
            <a:endParaRPr lang="en-US" sz="1000" dirty="0"/>
          </a:p>
        </p:txBody>
      </p:sp>
      <p:pic>
        <p:nvPicPr>
          <p:cNvPr id="8" name="Image 0" descr="/private/tmp/claude-501/-Users-punyasurana-Documents-INFRA-AI--claude-worktrees-six-slide-ppt-design-4aa896/0e2d93fe-4185-4348-bf6f-e59616f7d1d3/scratchpad/shots/c_n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45920"/>
            <a:ext cx="6867144" cy="429653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26680" y="1371600"/>
            <a:ext cx="3913632" cy="2339848"/>
          </a:xfrm>
          <a:prstGeom prst="roundRect">
            <a:avLst>
              <a:gd name="adj" fmla="val 3126"/>
            </a:avLst>
          </a:prstGeom>
          <a:solidFill>
            <a:srgbClr val="FFFFFF"/>
          </a:solidFill>
          <a:ln w="9525">
            <a:solidFill>
              <a:srgbClr val="D5E1E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854696" y="1463040"/>
            <a:ext cx="91440" cy="91440"/>
          </a:xfrm>
          <a:prstGeom prst="ellipse">
            <a:avLst/>
          </a:prstGeom>
          <a:solidFill>
            <a:srgbClr val="E5736A"/>
          </a:solidFill>
          <a:ln/>
        </p:spPr>
      </p:sp>
      <p:sp>
        <p:nvSpPr>
          <p:cNvPr id="11" name="Shape 8"/>
          <p:cNvSpPr/>
          <p:nvPr/>
        </p:nvSpPr>
        <p:spPr>
          <a:xfrm>
            <a:off x="8001000" y="1463040"/>
            <a:ext cx="91440" cy="9144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12" name="Shape 9"/>
          <p:cNvSpPr/>
          <p:nvPr/>
        </p:nvSpPr>
        <p:spPr>
          <a:xfrm>
            <a:off x="8147304" y="1463040"/>
            <a:ext cx="91440" cy="91440"/>
          </a:xfrm>
          <a:prstGeom prst="ellipse">
            <a:avLst/>
          </a:prstGeom>
          <a:solidFill>
            <a:srgbClr val="6BBF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66760" y="137160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Policymaker View  ·  state-wise NH metrics</a:t>
            </a:r>
            <a:endParaRPr lang="en-US" sz="1000" dirty="0"/>
          </a:p>
        </p:txBody>
      </p:sp>
      <p:pic>
        <p:nvPicPr>
          <p:cNvPr id="14" name="Image 1" descr="/private/tmp/claude-501/-Users-punyasurana-Documents-INFRA-AI--claude-worktrees-six-slide-ppt-design-4aa896/0e2d93fe-4185-4348-bf6f-e59616f7d1d3/scratchpad/shots/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645920"/>
            <a:ext cx="3877056" cy="2047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726680" y="3886200"/>
            <a:ext cx="3913632" cy="2231136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5E1E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54696" y="3977640"/>
            <a:ext cx="91440" cy="91440"/>
          </a:xfrm>
          <a:prstGeom prst="ellipse">
            <a:avLst/>
          </a:prstGeom>
          <a:solidFill>
            <a:srgbClr val="E5736A"/>
          </a:solidFill>
          <a:ln/>
        </p:spPr>
      </p:sp>
      <p:sp>
        <p:nvSpPr>
          <p:cNvPr id="17" name="Shape 13"/>
          <p:cNvSpPr/>
          <p:nvPr/>
        </p:nvSpPr>
        <p:spPr>
          <a:xfrm>
            <a:off x="8001000" y="3977640"/>
            <a:ext cx="91440" cy="9144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18" name="Shape 14"/>
          <p:cNvSpPr/>
          <p:nvPr/>
        </p:nvSpPr>
        <p:spPr>
          <a:xfrm>
            <a:off x="8147304" y="3977640"/>
            <a:ext cx="91440" cy="91440"/>
          </a:xfrm>
          <a:prstGeom prst="ellipse">
            <a:avLst/>
          </a:prstGeom>
          <a:solidFill>
            <a:srgbClr val="6BBF7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8366760" y="388620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 ·  top cities, scored from facts</a:t>
            </a:r>
            <a:endParaRPr lang="en-US" sz="1000" dirty="0"/>
          </a:p>
        </p:txBody>
      </p:sp>
      <p:pic>
        <p:nvPicPr>
          <p:cNvPr id="20" name="Image 2" descr="/private/tmp/claude-501/-Users-punyasurana-Documents-INFRA-AI--claude-worktrees-six-slide-ppt-design-4aa896/0e2d93fe-4185-4348-bf6f-e59616f7d1d3/scratchpad/shots/c_inv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4160520"/>
            <a:ext cx="3877056" cy="19385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4864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 the running app (fixture data as of 2026-09-29). Every number links to a source.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INFRA-AI  ·  Digital Public Good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Feasible: data exists, stack is lean, core is built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EAF2F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361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377440" y="1572768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0B4F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77440" y="1572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29968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licensed sources: OSM, MoRTH, WorldPop, GHSL, PIB. OSM covers 97.8% of official NH length (1,42,905 of 1,46,194 km). 381 cities scored.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31920" y="13716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EAF2F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114800" y="15361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60720" y="1572768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0B4F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572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DB next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2029968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Postgres/PostGIS on an H3 grid, Go API, Python for ML. Scores are config-weighted sums with stored drivers — no black-box model.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EAF2F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05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&amp; privacy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377440" y="4041648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0B4F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377440" y="40416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design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98848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 before storage; counts under 5 suppressed; never collect Aadhaar. Every record carries source, licence and confidence.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31920" y="384048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EAF2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114800" y="4005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760720" y="4041648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0B4F5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760720" y="40416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4498848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 data and analysis done; pipeline half done. Investor flow live. Next: DB, API and UI shell. A new city is one config file.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1371600"/>
            <a:ext cx="4050792" cy="281950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9525">
            <a:solidFill>
              <a:srgbClr val="D5E1E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17536" y="1463040"/>
            <a:ext cx="91440" cy="91440"/>
          </a:xfrm>
          <a:prstGeom prst="ellipse">
            <a:avLst/>
          </a:prstGeom>
          <a:solidFill>
            <a:srgbClr val="E5736A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0" y="1463040"/>
            <a:ext cx="91440" cy="9144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6" name="Shape 24"/>
          <p:cNvSpPr/>
          <p:nvPr/>
        </p:nvSpPr>
        <p:spPr>
          <a:xfrm>
            <a:off x="8010144" y="1463040"/>
            <a:ext cx="91440" cy="91440"/>
          </a:xfrm>
          <a:prstGeom prst="ellipse">
            <a:avLst/>
          </a:prstGeom>
          <a:solidFill>
            <a:srgbClr val="6BBF7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0" y="13716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Pune  ·  area scores on the H3 grid</a:t>
            </a:r>
            <a:endParaRPr lang="en-US" sz="1000" dirty="0"/>
          </a:p>
        </p:txBody>
      </p:sp>
      <p:pic>
        <p:nvPicPr>
          <p:cNvPr id="28" name="Image 0" descr="/private/tmp/claude-501/-Users-punyasurana-Documents-INFRA-AI--claude-worktrees-six-slide-ppt-design-4aa896/0e2d93fe-4185-4348-bf6f-e59616f7d1d3/scratchpad/shots/c_c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1645920"/>
            <a:ext cx="4014216" cy="252690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7589520" y="4419708"/>
            <a:ext cx="4050792" cy="1889652"/>
          </a:xfrm>
          <a:prstGeom prst="roundRect">
            <a:avLst>
              <a:gd name="adj" fmla="val 4839"/>
            </a:avLst>
          </a:prstGeom>
          <a:solidFill>
            <a:srgbClr val="072C3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72400" y="45294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we track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31188"/>
            <a:ext cx="3703320" cy="1386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layer has no stated licence: used for analysis, never redistributed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lags openings: checked against official dates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or invalid input goes to a review queue, never guessed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INFRA-AI  ·  Digital Public Good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two fields to all of India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follows one template. Each new city is one config file.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10543032" cy="0"/>
          </a:xfrm>
          <a:prstGeom prst="line">
            <a:avLst/>
          </a:prstGeom>
          <a:noFill/>
          <a:ln w="25400">
            <a:solidFill>
              <a:srgbClr val="3C7A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E08A1E"/>
          </a:solidFill>
          <a:ln w="25400">
            <a:solidFill>
              <a:srgbClr val="3C7A8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12140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011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743200"/>
            <a:ext cx="2567178" cy="1600200"/>
          </a:xfrm>
          <a:prstGeom prst="roundRect">
            <a:avLst>
              <a:gd name="adj" fmla="val 5714"/>
            </a:avLst>
          </a:prstGeom>
          <a:solidFill>
            <a:srgbClr val="0E3F4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852928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 data + analysis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255264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97.8% OSM coverage, first findings, delay flags, cited PIB events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90138" y="1965960"/>
            <a:ext cx="548640" cy="548640"/>
          </a:xfrm>
          <a:prstGeom prst="ellipse">
            <a:avLst/>
          </a:prstGeom>
          <a:solidFill>
            <a:srgbClr val="E08A1E"/>
          </a:solidFill>
          <a:ln w="25400">
            <a:solidFill>
              <a:srgbClr val="3C7A8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586" y="212140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75938" y="2011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390138" y="2743200"/>
            <a:ext cx="2567178" cy="1600200"/>
          </a:xfrm>
          <a:prstGeom prst="roundRect">
            <a:avLst>
              <a:gd name="adj" fmla="val 5714"/>
            </a:avLst>
          </a:prstGeom>
          <a:solidFill>
            <a:srgbClr val="0E3F49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573018" y="2852928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Investor flow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573018" y="3255264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381 cities, Go API, onboarding and city pages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31636" y="1965960"/>
            <a:ext cx="548640" cy="548640"/>
          </a:xfrm>
          <a:prstGeom prst="ellipse">
            <a:avLst/>
          </a:prstGeom>
          <a:solidFill>
            <a:srgbClr val="0B4F5C"/>
          </a:solidFill>
          <a:ln w="25400">
            <a:solidFill>
              <a:srgbClr val="3C7A8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917436" y="2011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31636" y="2743200"/>
            <a:ext cx="2567178" cy="1600200"/>
          </a:xfrm>
          <a:prstGeom prst="roundRect">
            <a:avLst>
              <a:gd name="adj" fmla="val 5714"/>
            </a:avLst>
          </a:prstGeom>
          <a:solidFill>
            <a:srgbClr val="0E3F49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414516" y="2852928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 Foundation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414516" y="3255264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DB, API, UI shell, citizen intake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073134" y="1965960"/>
            <a:ext cx="548640" cy="548640"/>
          </a:xfrm>
          <a:prstGeom prst="ellipse">
            <a:avLst/>
          </a:prstGeom>
          <a:solidFill>
            <a:srgbClr val="0B4F5C"/>
          </a:solidFill>
          <a:ln w="25400">
            <a:solidFill>
              <a:srgbClr val="3C7A8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758934" y="2011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073134" y="2743200"/>
            <a:ext cx="2567178" cy="1600200"/>
          </a:xfrm>
          <a:prstGeom prst="roundRect">
            <a:avLst>
              <a:gd name="adj" fmla="val 5714"/>
            </a:avLst>
          </a:prstGeom>
          <a:solidFill>
            <a:srgbClr val="0E3F49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256014" y="2852928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Metro + more fields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256014" y="3255264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Metro, railways, airports, water — one at a time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983480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Citizens: report a need by voice, in their language; see what is coming nearby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Policymakers: ranked, evidence-backed priorities; spending-versus-need view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and journalists: cited timelines, delays and growth drivers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492240" y="4617720"/>
            <a:ext cx="5148072" cy="1691640"/>
          </a:xfrm>
          <a:prstGeom prst="roundRect">
            <a:avLst>
              <a:gd name="adj" fmla="val 6486"/>
            </a:avLst>
          </a:prstGeom>
          <a:solidFill>
            <a:srgbClr val="E08A1E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720840" y="47274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next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6720840" y="509320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PM GatiShakti data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state or city partner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API access for 22-language intake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INFRA-AI  ·  Digital Public Good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INFRA-AI</dc:title>
  <dc:subject>PptxGenJS Presentation</dc:subject>
  <dc:creator>PptxGenJS</dc:creator>
  <cp:lastModifiedBy>PptxGenJS</cp:lastModifiedBy>
  <cp:revision>1</cp:revision>
  <dcterms:created xsi:type="dcterms:W3CDTF">2026-09-30T16:47:58Z</dcterms:created>
  <dcterms:modified xsi:type="dcterms:W3CDTF">2026-09-30T16:47:58Z</dcterms:modified>
</cp:coreProperties>
</file>